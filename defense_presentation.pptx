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3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83D379-0E57-4E04-91FC-C6A337ADDC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4C0746-1C7A-4AC1-AB84-E851D7951C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BA9106-1F8E-445B-AB2B-EB3028246C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F499942-7C04-4256-8BDC-B8AA836969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AB81581-FC53-41DE-AE87-8A04280351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877CADB-5310-4E74-B989-C84E641661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F4EFD33-B89B-4A5F-AB88-E0578033B8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9272AB-E73F-4D73-A897-F71855E6A5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ACE339E-9D94-4F52-A74E-2AA12A3BC5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E87F77E-892C-400A-8210-D60464F734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6CBBBF1-9DE6-4006-BE59-47128A6BD1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926E8C-C1E9-44A7-B3AE-0DF7AC31FE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E71593-9DA7-49E9-839C-86F5D7B6A4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B86568-84B5-41B7-82F3-ABAB134531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A42FD7-E512-4B3F-810D-7E829B565B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r 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C536D3-DACE-4383-A3EC-05183A3ECD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8F1312-3381-4E32-B09B-062623369C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0974BB-0C98-41D9-82A8-2D6D4986C8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B7EE4D-EB20-4394-82D6-6BF85763AB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CB19E4-A6CA-4E17-8883-E065127C80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DDB140-DEE2-4E11-A748-925F824A4C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303D2C-7A41-4145-B2A2-FDF2DC9CD5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3977640"/>
            <a:ext cx="12191400" cy="363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914400"/>
            <a:ext cx="10058040" cy="25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Adapting SimLingo Vision-Language-Action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Models to New Domains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r>
              <a:rPr b="1" lang="en-US" sz="2400" spc="-1" strike="noStrike">
                <a:solidFill>
                  <a:srgbClr val="ab0033"/>
                </a:solidFill>
                <a:latin typeface="Calibri"/>
              </a:rPr>
              <a:t>A Case Study for QCar 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914400" y="4251960"/>
            <a:ext cx="10058040" cy="19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Garegin Mazmanyan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888899"/>
                </a:solidFill>
                <a:latin typeface="Calibri"/>
              </a:rPr>
              <a:t>Master of Science in Computer Science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888899"/>
                </a:solidFill>
                <a:latin typeface="Calibri"/>
              </a:rPr>
              <a:t>The University of Arizona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888899"/>
                </a:solidFill>
                <a:latin typeface="Calibri"/>
              </a:rPr>
              <a:t>Committee:  Chicheng Zhang (Chair)  ·  Hossein Rastgoftar (Co-Chair)  ·  Eduardo Blanco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888899"/>
                </a:solidFill>
                <a:latin typeface="Calibri"/>
              </a:rPr>
              <a:t>February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Picture 5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Outline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Rounded Rectangle 3"/>
          <p:cNvSpPr/>
          <p:nvPr/>
        </p:nvSpPr>
        <p:spPr>
          <a:xfrm>
            <a:off x="914400" y="114300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1018800" y="116136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4035240" y="1170360"/>
            <a:ext cx="3633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Motivation &amp; Research Questions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914400" y="169164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1018800" y="171000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3884400" y="1719000"/>
            <a:ext cx="3934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Background: SimLingo &amp; VLA Driving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9"/>
          <p:cNvSpPr/>
          <p:nvPr/>
        </p:nvSpPr>
        <p:spPr>
          <a:xfrm>
            <a:off x="914400" y="224028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1018800" y="225864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4176360" y="2267640"/>
            <a:ext cx="3350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Methodology: CARLA → QLabs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12"/>
          <p:cNvSpPr/>
          <p:nvPr/>
        </p:nvSpPr>
        <p:spPr>
          <a:xfrm>
            <a:off x="914400" y="278892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1018800" y="280728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4"/>
          <p:cNvSpPr/>
          <p:nvPr/>
        </p:nvSpPr>
        <p:spPr>
          <a:xfrm>
            <a:off x="4232880" y="2816280"/>
            <a:ext cx="3238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Data Collection &amp; Fine-Tuning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15"/>
          <p:cNvSpPr/>
          <p:nvPr/>
        </p:nvSpPr>
        <p:spPr>
          <a:xfrm>
            <a:off x="914400" y="333756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1018800" y="335592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4447800" y="3364920"/>
            <a:ext cx="2808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Inference Stack &amp; Control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18"/>
          <p:cNvSpPr/>
          <p:nvPr/>
        </p:nvSpPr>
        <p:spPr>
          <a:xfrm>
            <a:off x="914400" y="388620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cf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1018800" y="390456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4222800" y="3913560"/>
            <a:ext cx="3258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Evaluation Design &amp; Baselines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21"/>
          <p:cNvSpPr/>
          <p:nvPr/>
        </p:nvSpPr>
        <p:spPr>
          <a:xfrm>
            <a:off x="914400" y="443484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22"/>
          <p:cNvSpPr/>
          <p:nvPr/>
        </p:nvSpPr>
        <p:spPr>
          <a:xfrm>
            <a:off x="1018800" y="445320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4833360" y="4462200"/>
            <a:ext cx="203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Results &amp; Analysis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24"/>
          <p:cNvSpPr/>
          <p:nvPr/>
        </p:nvSpPr>
        <p:spPr>
          <a:xfrm>
            <a:off x="914400" y="498348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888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5"/>
          <p:cNvSpPr/>
          <p:nvPr/>
        </p:nvSpPr>
        <p:spPr>
          <a:xfrm>
            <a:off x="1018800" y="500184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26"/>
          <p:cNvSpPr/>
          <p:nvPr/>
        </p:nvSpPr>
        <p:spPr>
          <a:xfrm>
            <a:off x="4402080" y="5010840"/>
            <a:ext cx="2899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Limitations &amp; Future 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27"/>
          <p:cNvSpPr/>
          <p:nvPr/>
        </p:nvSpPr>
        <p:spPr>
          <a:xfrm>
            <a:off x="914400" y="5532120"/>
            <a:ext cx="594000" cy="411120"/>
          </a:xfrm>
          <a:prstGeom prst="roundRect">
            <a:avLst>
              <a:gd name="adj" fmla="val 8000"/>
            </a:avLst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8"/>
          <p:cNvSpPr/>
          <p:nvPr/>
        </p:nvSpPr>
        <p:spPr>
          <a:xfrm>
            <a:off x="1018800" y="5550480"/>
            <a:ext cx="38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29"/>
          <p:cNvSpPr/>
          <p:nvPr/>
        </p:nvSpPr>
        <p:spPr>
          <a:xfrm>
            <a:off x="5197320" y="5559480"/>
            <a:ext cx="1308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Conclusion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30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102" name="TextBox 31"/>
          <p:cNvSpPr/>
          <p:nvPr/>
        </p:nvSpPr>
        <p:spPr>
          <a:xfrm>
            <a:off x="11474640" y="647388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Motivation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731520" y="1188720"/>
            <a:ext cx="5943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Vision-Language-Action (VLA) models show</a:t>
            </a:r>
            <a:br>
              <a:rPr sz="1800"/>
            </a:b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promise for autonomous driving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731520" y="2057400"/>
            <a:ext cx="5943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SimLingo: winning entry of the CARLA</a:t>
            </a:r>
            <a:br>
              <a:rPr sz="1800"/>
            </a:b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Autonomous Driving Challenge 2024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731520" y="2926080"/>
            <a:ext cx="5943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Uses InternVL2-1B multimodal backbone</a:t>
            </a:r>
            <a:br>
              <a:rPr sz="1800"/>
            </a:b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for end-to-end waypoint prediction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6"/>
          <p:cNvSpPr/>
          <p:nvPr/>
        </p:nvSpPr>
        <p:spPr>
          <a:xfrm>
            <a:off x="7132320" y="1188720"/>
            <a:ext cx="4388760" cy="255996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8682840" y="1371600"/>
            <a:ext cx="1378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b0033"/>
                </a:solidFill>
                <a:latin typeface="Calibri"/>
              </a:rPr>
              <a:t>Core Question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7406640" y="1920240"/>
            <a:ext cx="393156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Can a VLA driving model trained on CARLA transfer to Quanser QLabs via parameter-efficient fine-tuning?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9"/>
          <p:cNvSpPr/>
          <p:nvPr/>
        </p:nvSpPr>
        <p:spPr>
          <a:xfrm>
            <a:off x="731520" y="4114800"/>
            <a:ext cx="10698120" cy="5940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914400" y="4169520"/>
            <a:ext cx="1033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d6a9f"/>
                </a:solidFill>
                <a:latin typeface="Calibri"/>
              </a:rPr>
              <a:t>Goal: reproducible pipeline for adapting CARLA-trained VLA to QCar 2 in QLabs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11"/>
          <p:cNvSpPr/>
          <p:nvPr/>
        </p:nvSpPr>
        <p:spPr>
          <a:xfrm>
            <a:off x="731520" y="5029200"/>
            <a:ext cx="5120280" cy="1462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ectangle 12"/>
          <p:cNvSpPr/>
          <p:nvPr/>
        </p:nvSpPr>
        <p:spPr>
          <a:xfrm>
            <a:off x="731520" y="5029200"/>
            <a:ext cx="512028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13"/>
          <p:cNvSpPr/>
          <p:nvPr/>
        </p:nvSpPr>
        <p:spPr>
          <a:xfrm>
            <a:off x="2925360" y="5166360"/>
            <a:ext cx="732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CARLA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4"/>
          <p:cNvSpPr/>
          <p:nvPr/>
        </p:nvSpPr>
        <p:spPr>
          <a:xfrm>
            <a:off x="960120" y="5486400"/>
            <a:ext cx="4663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Unreal Engine 4, photorealistic rendering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Full vehicle dynamics (tire, suspension)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Rich sensor suite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15"/>
          <p:cNvSpPr/>
          <p:nvPr/>
        </p:nvSpPr>
        <p:spPr>
          <a:xfrm>
            <a:off x="6309360" y="5029200"/>
            <a:ext cx="5120280" cy="1462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ectangle 16"/>
          <p:cNvSpPr/>
          <p:nvPr/>
        </p:nvSpPr>
        <p:spPr>
          <a:xfrm>
            <a:off x="6309360" y="5029200"/>
            <a:ext cx="512028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17"/>
          <p:cNvSpPr/>
          <p:nvPr/>
        </p:nvSpPr>
        <p:spPr>
          <a:xfrm>
            <a:off x="8523000" y="5166360"/>
            <a:ext cx="693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QLabs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8"/>
          <p:cNvSpPr/>
          <p:nvPr/>
        </p:nvSpPr>
        <p:spPr>
          <a:xfrm>
            <a:off x="6537960" y="5486400"/>
            <a:ext cx="4663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Educational platform, simplified rendering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Idealized physics (instant velocity)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Compact fixed-layout environment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Picture 19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122" name="TextBox 20"/>
          <p:cNvSpPr/>
          <p:nvPr/>
        </p:nvSpPr>
        <p:spPr>
          <a:xfrm>
            <a:off x="11474640" y="647388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731520" y="2377440"/>
            <a:ext cx="54360" cy="16455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332600" y="2468880"/>
            <a:ext cx="34045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 Light"/>
              </a:rPr>
              <a:t>Background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3348720" y="3474720"/>
            <a:ext cx="53719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888899"/>
                </a:solidFill>
                <a:latin typeface="Calibri"/>
              </a:rPr>
              <a:t>SimLingo, InternVL2-1B, and VLA Driving Architecture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127" name="TextBox 5"/>
          <p:cNvSpPr/>
          <p:nvPr/>
        </p:nvSpPr>
        <p:spPr>
          <a:xfrm>
            <a:off x="11474640" y="647388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Two-Level Driving Architecture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ounded Rectangle 3"/>
          <p:cNvSpPr/>
          <p:nvPr/>
        </p:nvSpPr>
        <p:spPr>
          <a:xfrm>
            <a:off x="731520" y="1143000"/>
            <a:ext cx="5120280" cy="2468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ectangle 4"/>
          <p:cNvSpPr/>
          <p:nvPr/>
        </p:nvSpPr>
        <p:spPr>
          <a:xfrm>
            <a:off x="731520" y="1143000"/>
            <a:ext cx="512028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2274480" y="1280160"/>
            <a:ext cx="2034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Upper Level (Learned)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960120" y="1600200"/>
            <a:ext cx="46630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VLA model predicts future waypoints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Input: camera image + route intent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Output: WHERE the vehicle should go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Never directly outputs steering or throttle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7"/>
          <p:cNvSpPr/>
          <p:nvPr/>
        </p:nvSpPr>
        <p:spPr>
          <a:xfrm>
            <a:off x="6309360" y="1143000"/>
            <a:ext cx="5120280" cy="2468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Rectangle 8"/>
          <p:cNvSpPr/>
          <p:nvPr/>
        </p:nvSpPr>
        <p:spPr>
          <a:xfrm>
            <a:off x="6309360" y="1143000"/>
            <a:ext cx="512028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7845480" y="1280160"/>
            <a:ext cx="204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Lower Level (Classical)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0"/>
          <p:cNvSpPr/>
          <p:nvPr/>
        </p:nvSpPr>
        <p:spPr>
          <a:xfrm>
            <a:off x="6537960" y="1600200"/>
            <a:ext cx="46630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PID controllers convert waypoints to actuators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Lateral PID: heading error → steering angle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Longitudinal PID: speed error → throttle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Robust, interpretable control layer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ight Arrow 11"/>
          <p:cNvSpPr/>
          <p:nvPr/>
        </p:nvSpPr>
        <p:spPr>
          <a:xfrm>
            <a:off x="5669280" y="2103120"/>
            <a:ext cx="82260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88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ounded Rectangle 12"/>
          <p:cNvSpPr/>
          <p:nvPr/>
        </p:nvSpPr>
        <p:spPr>
          <a:xfrm>
            <a:off x="731520" y="3931920"/>
            <a:ext cx="10698120" cy="50256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13"/>
          <p:cNvSpPr/>
          <p:nvPr/>
        </p:nvSpPr>
        <p:spPr>
          <a:xfrm>
            <a:off x="914400" y="3986640"/>
            <a:ext cx="1033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d6a9f"/>
                </a:solidFill>
                <a:latin typeface="Calibri"/>
              </a:rPr>
              <a:t>Clean separation: learned perception + classical control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14"/>
          <p:cNvSpPr/>
          <p:nvPr/>
        </p:nvSpPr>
        <p:spPr>
          <a:xfrm>
            <a:off x="731520" y="4754880"/>
            <a:ext cx="1462680" cy="914040"/>
          </a:xfrm>
          <a:prstGeom prst="roundRect">
            <a:avLst>
              <a:gd name="adj" fmla="val 8000"/>
            </a:avLst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5"/>
          <p:cNvSpPr/>
          <p:nvPr/>
        </p:nvSpPr>
        <p:spPr>
          <a:xfrm>
            <a:off x="731520" y="4846320"/>
            <a:ext cx="14626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Camera</a:t>
            </a:r>
            <a:br>
              <a:rPr sz="1300"/>
            </a:b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Image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ight Arrow 16"/>
          <p:cNvSpPr/>
          <p:nvPr/>
        </p:nvSpPr>
        <p:spPr>
          <a:xfrm>
            <a:off x="2194560" y="5029200"/>
            <a:ext cx="31968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ounded Rectangle 17"/>
          <p:cNvSpPr/>
          <p:nvPr/>
        </p:nvSpPr>
        <p:spPr>
          <a:xfrm>
            <a:off x="2514600" y="4754880"/>
            <a:ext cx="1462680" cy="914040"/>
          </a:xfrm>
          <a:prstGeom prst="roundRect">
            <a:avLst>
              <a:gd name="adj" fmla="val 8000"/>
            </a:avLst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18"/>
          <p:cNvSpPr/>
          <p:nvPr/>
        </p:nvSpPr>
        <p:spPr>
          <a:xfrm>
            <a:off x="2514600" y="4846320"/>
            <a:ext cx="14626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Vision</a:t>
            </a:r>
            <a:br>
              <a:rPr sz="1300"/>
            </a:b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Encoder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ight Arrow 19"/>
          <p:cNvSpPr/>
          <p:nvPr/>
        </p:nvSpPr>
        <p:spPr>
          <a:xfrm>
            <a:off x="3977640" y="5029200"/>
            <a:ext cx="31968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ounded Rectangle 20"/>
          <p:cNvSpPr/>
          <p:nvPr/>
        </p:nvSpPr>
        <p:spPr>
          <a:xfrm>
            <a:off x="4297680" y="4754880"/>
            <a:ext cx="1462680" cy="914040"/>
          </a:xfrm>
          <a:prstGeom prst="roundRect">
            <a:avLst>
              <a:gd name="adj" fmla="val 8000"/>
            </a:avLst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21"/>
          <p:cNvSpPr/>
          <p:nvPr/>
        </p:nvSpPr>
        <p:spPr>
          <a:xfrm>
            <a:off x="4297680" y="4846320"/>
            <a:ext cx="14626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LLM</a:t>
            </a:r>
            <a:br>
              <a:rPr sz="1300"/>
            </a:b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Decoder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ight Arrow 22"/>
          <p:cNvSpPr/>
          <p:nvPr/>
        </p:nvSpPr>
        <p:spPr>
          <a:xfrm>
            <a:off x="5760720" y="5029200"/>
            <a:ext cx="31968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ounded Rectangle 23"/>
          <p:cNvSpPr/>
          <p:nvPr/>
        </p:nvSpPr>
        <p:spPr>
          <a:xfrm>
            <a:off x="6080760" y="4754880"/>
            <a:ext cx="1462680" cy="914040"/>
          </a:xfrm>
          <a:prstGeom prst="roundRect">
            <a:avLst>
              <a:gd name="adj" fmla="val 8000"/>
            </a:avLst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24"/>
          <p:cNvSpPr/>
          <p:nvPr/>
        </p:nvSpPr>
        <p:spPr>
          <a:xfrm>
            <a:off x="6080760" y="4846320"/>
            <a:ext cx="14626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Waypoint</a:t>
            </a:r>
            <a:br>
              <a:rPr sz="1300"/>
            </a:b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Heads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ight Arrow 25"/>
          <p:cNvSpPr/>
          <p:nvPr/>
        </p:nvSpPr>
        <p:spPr>
          <a:xfrm>
            <a:off x="7543800" y="5029200"/>
            <a:ext cx="31968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Rounded Rectangle 26"/>
          <p:cNvSpPr/>
          <p:nvPr/>
        </p:nvSpPr>
        <p:spPr>
          <a:xfrm>
            <a:off x="7863840" y="4754880"/>
            <a:ext cx="1462680" cy="914040"/>
          </a:xfrm>
          <a:prstGeom prst="roundRect">
            <a:avLst>
              <a:gd name="adj" fmla="val 8000"/>
            </a:avLst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27"/>
          <p:cNvSpPr/>
          <p:nvPr/>
        </p:nvSpPr>
        <p:spPr>
          <a:xfrm>
            <a:off x="7863840" y="4846320"/>
            <a:ext cx="14626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PID</a:t>
            </a:r>
            <a:br>
              <a:rPr sz="1300"/>
            </a:b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Controllers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ight Arrow 28"/>
          <p:cNvSpPr/>
          <p:nvPr/>
        </p:nvSpPr>
        <p:spPr>
          <a:xfrm>
            <a:off x="9326880" y="5029200"/>
            <a:ext cx="31968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ounded Rectangle 29"/>
          <p:cNvSpPr/>
          <p:nvPr/>
        </p:nvSpPr>
        <p:spPr>
          <a:xfrm>
            <a:off x="9646920" y="4754880"/>
            <a:ext cx="1462680" cy="914040"/>
          </a:xfrm>
          <a:prstGeom prst="roundRect">
            <a:avLst>
              <a:gd name="adj" fmla="val 8000"/>
            </a:avLst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30"/>
          <p:cNvSpPr/>
          <p:nvPr/>
        </p:nvSpPr>
        <p:spPr>
          <a:xfrm>
            <a:off x="9646920" y="4846320"/>
            <a:ext cx="14626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Vehicle</a:t>
            </a:r>
            <a:br>
              <a:rPr sz="1300"/>
            </a:b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Commands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Picture 31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159" name="TextBox 32"/>
          <p:cNvSpPr/>
          <p:nvPr/>
        </p:nvSpPr>
        <p:spPr>
          <a:xfrm>
            <a:off x="11474640" y="647388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SimLingo &amp; InternVL2-1B Backbone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ounded Rectangle 3"/>
          <p:cNvSpPr/>
          <p:nvPr/>
        </p:nvSpPr>
        <p:spPr>
          <a:xfrm>
            <a:off x="731520" y="10972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1160280" y="1234440"/>
            <a:ext cx="15192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2d6a9f"/>
                </a:solidFill>
                <a:latin typeface="Calibri"/>
              </a:rPr>
              <a:t>300M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868680" y="1965960"/>
            <a:ext cx="2102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Vision encoder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InternViT-300M-448px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6"/>
          <p:cNvSpPr/>
          <p:nvPr/>
        </p:nvSpPr>
        <p:spPr>
          <a:xfrm>
            <a:off x="3383280" y="10972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3812040" y="1234440"/>
            <a:ext cx="15192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0d8a72"/>
                </a:solidFill>
                <a:latin typeface="Calibri"/>
              </a:rPr>
              <a:t>500M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3520440" y="1965960"/>
            <a:ext cx="2102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Language model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Qwen2-0.5B-Instruct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9"/>
          <p:cNvSpPr/>
          <p:nvPr/>
        </p:nvSpPr>
        <p:spPr>
          <a:xfrm>
            <a:off x="6035040" y="10972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10"/>
          <p:cNvSpPr/>
          <p:nvPr/>
        </p:nvSpPr>
        <p:spPr>
          <a:xfrm>
            <a:off x="6707880" y="1234440"/>
            <a:ext cx="10314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cf7c00"/>
                </a:solidFill>
                <a:latin typeface="Calibri"/>
              </a:rPr>
              <a:t>512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1"/>
          <p:cNvSpPr/>
          <p:nvPr/>
        </p:nvSpPr>
        <p:spPr>
          <a:xfrm>
            <a:off x="6172200" y="1965960"/>
            <a:ext cx="2102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Visual tokens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(2 tiles × 256 each)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12"/>
          <p:cNvSpPr/>
          <p:nvPr/>
        </p:nvSpPr>
        <p:spPr>
          <a:xfrm>
            <a:off x="8686800" y="10972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13"/>
          <p:cNvSpPr/>
          <p:nvPr/>
        </p:nvSpPr>
        <p:spPr>
          <a:xfrm>
            <a:off x="9264960" y="1234440"/>
            <a:ext cx="12204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ab0033"/>
                </a:solidFill>
                <a:latin typeface="Calibri"/>
              </a:rPr>
              <a:t>448²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4"/>
          <p:cNvSpPr/>
          <p:nvPr/>
        </p:nvSpPr>
        <p:spPr>
          <a:xfrm>
            <a:off x="8823960" y="1965960"/>
            <a:ext cx="2102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Tile resolution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px per tile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5"/>
          <p:cNvSpPr/>
          <p:nvPr/>
        </p:nvSpPr>
        <p:spPr>
          <a:xfrm>
            <a:off x="731520" y="283464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Dynamic tiling: images split into 448×448 tiles, pixel-unshuffle (factor 4) → 256 tokens/tile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6"/>
          <p:cNvSpPr/>
          <p:nvPr/>
        </p:nvSpPr>
        <p:spPr>
          <a:xfrm>
            <a:off x="731520" y="333756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Learned projection maps vision features into LLM embedding 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7"/>
          <p:cNvSpPr/>
          <p:nvPr/>
        </p:nvSpPr>
        <p:spPr>
          <a:xfrm>
            <a:off x="731520" y="384048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Causal LLM processes visual + text + navigational tokens jointly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18"/>
          <p:cNvSpPr/>
          <p:nvPr/>
        </p:nvSpPr>
        <p:spPr>
          <a:xfrm>
            <a:off x="1371600" y="4572000"/>
            <a:ext cx="9417960" cy="50256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19"/>
          <p:cNvSpPr/>
          <p:nvPr/>
        </p:nvSpPr>
        <p:spPr>
          <a:xfrm>
            <a:off x="1554480" y="4645080"/>
            <a:ext cx="9052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c1c2e"/>
                </a:solidFill>
                <a:latin typeface="Consolas"/>
              </a:rPr>
              <a:t>Token sequence:  [NAV_1, NAV_2]  +  [VIS_1 ... VIS_512]  +  [TEXT tokens]  →  LLM  →  Waypoint Heads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20"/>
          <p:cNvSpPr/>
          <p:nvPr/>
        </p:nvSpPr>
        <p:spPr>
          <a:xfrm>
            <a:off x="731520" y="5349240"/>
            <a:ext cx="10698120" cy="50256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21"/>
          <p:cNvSpPr/>
          <p:nvPr/>
        </p:nvSpPr>
        <p:spPr>
          <a:xfrm>
            <a:off x="914400" y="5403960"/>
            <a:ext cx="1033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6a9f"/>
                </a:solidFill>
                <a:latin typeface="Calibri"/>
              </a:rPr>
              <a:t>Target-point mode: 2 GPS-like waypoints fed through WaypointInputAdaptor MLP → 2 navigational embeddings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Picture 22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182" name="TextBox 23"/>
          <p:cNvSpPr/>
          <p:nvPr/>
        </p:nvSpPr>
        <p:spPr>
          <a:xfrm>
            <a:off x="11474640" y="647388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Dual-Head Action Prediction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ounded Rectangle 3"/>
          <p:cNvSpPr/>
          <p:nvPr/>
        </p:nvSpPr>
        <p:spPr>
          <a:xfrm>
            <a:off x="731520" y="1097280"/>
            <a:ext cx="5120280" cy="2559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Rectangle 4"/>
          <p:cNvSpPr/>
          <p:nvPr/>
        </p:nvSpPr>
        <p:spPr>
          <a:xfrm>
            <a:off x="731520" y="1097280"/>
            <a:ext cx="512028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1994040" y="1234440"/>
            <a:ext cx="259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Speed Waypoints (Temporal)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960120" y="1554480"/>
            <a:ext cx="46630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10 learnable speed query vectors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Predict ego-frame coords at 0.25 s intervals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Used for longitudinal PID control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MLP: Linear(H→256) → SiLU → Linear(256→2)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ounded Rectangle 7"/>
          <p:cNvSpPr/>
          <p:nvPr/>
        </p:nvSpPr>
        <p:spPr>
          <a:xfrm>
            <a:off x="6309360" y="1097280"/>
            <a:ext cx="5120280" cy="2559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Rectangle 8"/>
          <p:cNvSpPr/>
          <p:nvPr/>
        </p:nvSpPr>
        <p:spPr>
          <a:xfrm>
            <a:off x="6309360" y="1097280"/>
            <a:ext cx="512028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9"/>
          <p:cNvSpPr/>
          <p:nvPr/>
        </p:nvSpPr>
        <p:spPr>
          <a:xfrm>
            <a:off x="7533000" y="1234440"/>
            <a:ext cx="2673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Route Waypoints (Geometric)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0"/>
          <p:cNvSpPr/>
          <p:nvPr/>
        </p:nvSpPr>
        <p:spPr>
          <a:xfrm>
            <a:off x="6537960" y="1554480"/>
            <a:ext cx="46630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20 learnable route query vectors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Predict ego-frame coords at ~1 m intervals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Used for lateral PID control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MLP: Linear(H→512) → SiLU → ... → Linear(256→2)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11"/>
          <p:cNvSpPr/>
          <p:nvPr/>
        </p:nvSpPr>
        <p:spPr>
          <a:xfrm>
            <a:off x="1371600" y="3931920"/>
            <a:ext cx="9417960" cy="50256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12"/>
          <p:cNvSpPr/>
          <p:nvPr/>
        </p:nvSpPr>
        <p:spPr>
          <a:xfrm>
            <a:off x="1554480" y="4005000"/>
            <a:ext cx="9052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c1c2e"/>
                </a:solidFill>
                <a:latin typeface="Consolas"/>
              </a:rPr>
              <a:t>Output:  waypoint deltas  →  cumulative sum  →  absolute ego-frame positions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3"/>
          <p:cNvSpPr/>
          <p:nvPr/>
        </p:nvSpPr>
        <p:spPr>
          <a:xfrm>
            <a:off x="731520" y="4754880"/>
            <a:ext cx="10698120" cy="502560"/>
          </a:xfrm>
          <a:prstGeom prst="roundRect">
            <a:avLst>
              <a:gd name="adj" fmla="val 8000"/>
            </a:avLst>
          </a:prstGeom>
          <a:solidFill>
            <a:srgbClr val="f4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14"/>
          <p:cNvSpPr/>
          <p:nvPr/>
        </p:nvSpPr>
        <p:spPr>
          <a:xfrm>
            <a:off x="914400" y="4809600"/>
            <a:ext cx="1033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2d3d"/>
                </a:solidFill>
                <a:latin typeface="Calibri"/>
              </a:rPr>
              <a:t>Training losses:  Smooth-L1 (route + speed waypoints) + Cross-entropy (language)  —  equal weight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15"/>
          <p:cNvSpPr/>
          <p:nvPr/>
        </p:nvSpPr>
        <p:spPr>
          <a:xfrm>
            <a:off x="1371600" y="5577840"/>
            <a:ext cx="9417960" cy="50256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16"/>
          <p:cNvSpPr/>
          <p:nvPr/>
        </p:nvSpPr>
        <p:spPr>
          <a:xfrm>
            <a:off x="1554480" y="5650920"/>
            <a:ext cx="9052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c1c2e"/>
                </a:solidFill>
                <a:latin typeface="Consolas"/>
              </a:rPr>
              <a:t>WaypointInputAdaptor:  Linear(2→256) → ReLU → Linear(256→512) → ReLU → Linear(512→D)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Picture 17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00" name="TextBox 18"/>
          <p:cNvSpPr/>
          <p:nvPr/>
        </p:nvSpPr>
        <p:spPr>
          <a:xfrm>
            <a:off x="11474640" y="647388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CARLA vs. QLabs: Key Differences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203" name="Table 3"/>
          <p:cNvGraphicFramePr/>
          <p:nvPr/>
        </p:nvGraphicFramePr>
        <p:xfrm>
          <a:off x="609480" y="1234440"/>
          <a:ext cx="10972440" cy="2688120"/>
        </p:xfrm>
        <a:graphic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CARLA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QLabs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Engine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Unreal Engine 4, photorealistic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Educational, simplified rendering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Physics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Full dynamics (tire, suspension)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Idealized (instant velocity)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Steering sign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Positive = turn left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Opposite sign convention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Control cadence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20 Hz control, 4 Hz data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4 Hz control loop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Speed signal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Instantaneous from simulator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Single-frame displacement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Camera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1024×512, FOV 110°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820×410, FOV 160°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pic>
        <p:nvPicPr>
          <p:cNvPr id="204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05" name="TextBox 5"/>
          <p:cNvSpPr/>
          <p:nvPr/>
        </p:nvSpPr>
        <p:spPr>
          <a:xfrm>
            <a:off x="11474640" y="647388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Research Questions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Rounded Rectangle 3"/>
          <p:cNvSpPr/>
          <p:nvPr/>
        </p:nvSpPr>
        <p:spPr>
          <a:xfrm>
            <a:off x="731520" y="1097280"/>
            <a:ext cx="776880" cy="1096920"/>
          </a:xfrm>
          <a:prstGeom prst="roundRect">
            <a:avLst>
              <a:gd name="adj" fmla="val 8000"/>
            </a:avLst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4"/>
          <p:cNvSpPr/>
          <p:nvPr/>
        </p:nvSpPr>
        <p:spPr>
          <a:xfrm>
            <a:off x="852480" y="1371600"/>
            <a:ext cx="53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RQ1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5"/>
          <p:cNvSpPr/>
          <p:nvPr/>
        </p:nvSpPr>
        <p:spPr>
          <a:xfrm>
            <a:off x="1737360" y="1143000"/>
            <a:ext cx="9600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d2d3d"/>
                </a:solidFill>
                <a:latin typeface="Calibri"/>
              </a:rPr>
              <a:t>What data and interface adaptations are needed for CARLA → QLabs transfer?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6"/>
          <p:cNvSpPr/>
          <p:nvPr/>
        </p:nvSpPr>
        <p:spPr>
          <a:xfrm>
            <a:off x="1737360" y="1645920"/>
            <a:ext cx="960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888899"/>
                </a:solidFill>
                <a:latin typeface="Calibri"/>
              </a:rPr>
              <a:t>Coordinate frames, steering signs, camera configs, speed estimation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ounded Rectangle 7"/>
          <p:cNvSpPr/>
          <p:nvPr/>
        </p:nvSpPr>
        <p:spPr>
          <a:xfrm>
            <a:off x="731520" y="2377440"/>
            <a:ext cx="776880" cy="1096920"/>
          </a:xfrm>
          <a:prstGeom prst="roundRect">
            <a:avLst>
              <a:gd name="adj" fmla="val 8000"/>
            </a:avLst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8"/>
          <p:cNvSpPr/>
          <p:nvPr/>
        </p:nvSpPr>
        <p:spPr>
          <a:xfrm>
            <a:off x="852480" y="2651760"/>
            <a:ext cx="53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RQ2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9"/>
          <p:cNvSpPr/>
          <p:nvPr/>
        </p:nvSpPr>
        <p:spPr>
          <a:xfrm>
            <a:off x="1737360" y="2423160"/>
            <a:ext cx="9600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d2d3d"/>
                </a:solidFill>
                <a:latin typeface="Calibri"/>
              </a:rPr>
              <a:t>Can parameter-efficient fine-tuning (LoRA) achieve domain transfer?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0"/>
          <p:cNvSpPr/>
          <p:nvPr/>
        </p:nvSpPr>
        <p:spPr>
          <a:xfrm>
            <a:off x="1737360" y="2926080"/>
            <a:ext cx="960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888899"/>
                </a:solidFill>
                <a:latin typeface="Calibri"/>
              </a:rPr>
              <a:t>Freeze vision encoder, adapt only LLM parameters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11"/>
          <p:cNvSpPr/>
          <p:nvPr/>
        </p:nvSpPr>
        <p:spPr>
          <a:xfrm>
            <a:off x="731520" y="3657600"/>
            <a:ext cx="776880" cy="1096920"/>
          </a:xfrm>
          <a:prstGeom prst="roundRect">
            <a:avLst>
              <a:gd name="adj" fmla="val 8000"/>
            </a:avLst>
          </a:prstGeom>
          <a:solidFill>
            <a:srgbClr val="cf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12"/>
          <p:cNvSpPr/>
          <p:nvPr/>
        </p:nvSpPr>
        <p:spPr>
          <a:xfrm>
            <a:off x="852480" y="3931920"/>
            <a:ext cx="53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RQ3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13"/>
          <p:cNvSpPr/>
          <p:nvPr/>
        </p:nvSpPr>
        <p:spPr>
          <a:xfrm>
            <a:off x="1737360" y="3703320"/>
            <a:ext cx="9600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d2d3d"/>
                </a:solidFill>
                <a:latin typeface="Calibri"/>
              </a:rPr>
              <a:t>What runtime alignment is required for real-time control?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4"/>
          <p:cNvSpPr/>
          <p:nvPr/>
        </p:nvSpPr>
        <p:spPr>
          <a:xfrm>
            <a:off x="1737360" y="4206240"/>
            <a:ext cx="960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888899"/>
                </a:solidFill>
                <a:latin typeface="Calibri"/>
              </a:rPr>
              <a:t>Control-loop timing, PID compensation, ego-frame target points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ounded Rectangle 15"/>
          <p:cNvSpPr/>
          <p:nvPr/>
        </p:nvSpPr>
        <p:spPr>
          <a:xfrm>
            <a:off x="731520" y="4937760"/>
            <a:ext cx="776880" cy="1096920"/>
          </a:xfrm>
          <a:prstGeom prst="roundRect">
            <a:avLst>
              <a:gd name="adj" fmla="val 8000"/>
            </a:avLst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16"/>
          <p:cNvSpPr/>
          <p:nvPr/>
        </p:nvSpPr>
        <p:spPr>
          <a:xfrm>
            <a:off x="852480" y="5212080"/>
            <a:ext cx="53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RQ4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17"/>
          <p:cNvSpPr/>
          <p:nvPr/>
        </p:nvSpPr>
        <p:spPr>
          <a:xfrm>
            <a:off x="1737360" y="4983480"/>
            <a:ext cx="9600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d2d3d"/>
                </a:solidFill>
                <a:latin typeface="Calibri"/>
              </a:rPr>
              <a:t>How to build a reproducible evaluation harness?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18"/>
          <p:cNvSpPr/>
          <p:nvPr/>
        </p:nvSpPr>
        <p:spPr>
          <a:xfrm>
            <a:off x="1737360" y="5486400"/>
            <a:ext cx="960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888899"/>
                </a:solidFill>
                <a:latin typeface="Calibri"/>
              </a:rPr>
              <a:t>Scenario-driven testing with quantitative metrics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19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25" name="TextBox 20"/>
          <p:cNvSpPr/>
          <p:nvPr/>
        </p:nvSpPr>
        <p:spPr>
          <a:xfrm>
            <a:off x="11474640" y="647388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731520" y="2377440"/>
            <a:ext cx="54360" cy="16455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4178520" y="2468880"/>
            <a:ext cx="37123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 Light"/>
              </a:rPr>
              <a:t>Methodology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4695480" y="3474720"/>
            <a:ext cx="26787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888899"/>
                </a:solidFill>
                <a:latin typeface="Calibri"/>
              </a:rPr>
              <a:t>Adapting CARLA → QLabs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30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Domain Adaptation Pipeline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Rounded Rectangle 3"/>
          <p:cNvSpPr/>
          <p:nvPr/>
        </p:nvSpPr>
        <p:spPr>
          <a:xfrm>
            <a:off x="731520" y="1097280"/>
            <a:ext cx="10698120" cy="4568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914400" y="1152000"/>
            <a:ext cx="10332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d6a9f"/>
                </a:solidFill>
                <a:latin typeface="Calibri"/>
              </a:rPr>
              <a:t>Starting point: pretrained CARLA checkpoint (epoch 13 of CARLA training)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5"/>
          <p:cNvSpPr/>
          <p:nvPr/>
        </p:nvSpPr>
        <p:spPr>
          <a:xfrm>
            <a:off x="731520" y="1828800"/>
            <a:ext cx="3474360" cy="2011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Rectangle 6"/>
          <p:cNvSpPr/>
          <p:nvPr/>
        </p:nvSpPr>
        <p:spPr>
          <a:xfrm>
            <a:off x="731520" y="1828800"/>
            <a:ext cx="347436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1383480" y="1965960"/>
            <a:ext cx="217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Stage 1: Data Collection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960120" y="2286000"/>
            <a:ext cx="30171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Expert driving in QLabs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Keyboard teleop at 30 Hz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4 Hz data logging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ounded Rectangle 9"/>
          <p:cNvSpPr/>
          <p:nvPr/>
        </p:nvSpPr>
        <p:spPr>
          <a:xfrm>
            <a:off x="4480560" y="1828800"/>
            <a:ext cx="3474360" cy="2011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Rectangle 10"/>
          <p:cNvSpPr/>
          <p:nvPr/>
        </p:nvSpPr>
        <p:spPr>
          <a:xfrm>
            <a:off x="4480560" y="1828800"/>
            <a:ext cx="347436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5053320" y="1965960"/>
            <a:ext cx="2328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Stage 2: LoRA Fine-Tuning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12"/>
          <p:cNvSpPr/>
          <p:nvPr/>
        </p:nvSpPr>
        <p:spPr>
          <a:xfrm>
            <a:off x="4709160" y="2286000"/>
            <a:ext cx="30171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InternVL2-1B backbone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~17.6M adapter params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15 epochs training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13"/>
          <p:cNvSpPr/>
          <p:nvPr/>
        </p:nvSpPr>
        <p:spPr>
          <a:xfrm>
            <a:off x="8229600" y="1828800"/>
            <a:ext cx="3474360" cy="2011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ectangle 14"/>
          <p:cNvSpPr/>
          <p:nvPr/>
        </p:nvSpPr>
        <p:spPr>
          <a:xfrm>
            <a:off x="8229600" y="1828800"/>
            <a:ext cx="3474360" cy="54360"/>
          </a:xfrm>
          <a:prstGeom prst="rect">
            <a:avLst/>
          </a:prstGeom>
          <a:solidFill>
            <a:srgbClr val="cf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8879400" y="1965960"/>
            <a:ext cx="2174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f7c00"/>
                </a:solidFill>
                <a:latin typeface="Calibri"/>
              </a:rPr>
              <a:t>Stage 3: Inference Stack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16"/>
          <p:cNvSpPr/>
          <p:nvPr/>
        </p:nvSpPr>
        <p:spPr>
          <a:xfrm>
            <a:off x="8458200" y="2286000"/>
            <a:ext cx="30171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Real-time PID controller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Ego-frame target points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4 Hz control loop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ounded Rectangle 17"/>
          <p:cNvSpPr/>
          <p:nvPr/>
        </p:nvSpPr>
        <p:spPr>
          <a:xfrm>
            <a:off x="731520" y="4114800"/>
            <a:ext cx="10698120" cy="456840"/>
          </a:xfrm>
          <a:prstGeom prst="roundRect">
            <a:avLst>
              <a:gd name="adj" fmla="val 8000"/>
            </a:avLst>
          </a:prstGeom>
          <a:solidFill>
            <a:srgbClr val="f4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914400" y="4169520"/>
            <a:ext cx="10332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d2d3d"/>
                </a:solidFill>
                <a:latin typeface="Calibri"/>
              </a:rPr>
              <a:t>Key mismatches addressed:  coordinate frames  ·  control rates (20 Hz vs 4 Hz)  ·  camera FOV/resolution  ·  speed estimation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Picture 19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50" name="TextBox 20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Coordinate Frame Alignment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731520" y="1097280"/>
            <a:ext cx="10698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d2d3d"/>
                </a:solidFill>
                <a:latin typeface="Calibri"/>
              </a:rPr>
              <a:t>Ego frame: x points forward, y points left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4"/>
          <p:cNvSpPr/>
          <p:nvPr/>
        </p:nvSpPr>
        <p:spPr>
          <a:xfrm>
            <a:off x="731520" y="1600200"/>
            <a:ext cx="10698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d2d3d"/>
                </a:solidFill>
                <a:latin typeface="Calibri"/>
              </a:rPr>
              <a:t>All waypoints converted to ego frame before use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5"/>
          <p:cNvSpPr/>
          <p:nvPr/>
        </p:nvSpPr>
        <p:spPr>
          <a:xfrm>
            <a:off x="731520" y="2103120"/>
            <a:ext cx="10698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d2d3d"/>
                </a:solidFill>
                <a:latin typeface="Calibri"/>
              </a:rPr>
              <a:t>Steering sign: CARLA and QLabs use opposite conventions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ounded Rectangle 6"/>
          <p:cNvSpPr/>
          <p:nvPr/>
        </p:nvSpPr>
        <p:spPr>
          <a:xfrm>
            <a:off x="1371600" y="2743200"/>
            <a:ext cx="9417960" cy="54828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7"/>
          <p:cNvSpPr/>
          <p:nvPr/>
        </p:nvSpPr>
        <p:spPr>
          <a:xfrm>
            <a:off x="1554480" y="2816280"/>
            <a:ext cx="9052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c1c2e"/>
                </a:solidFill>
                <a:latin typeface="Consolas"/>
              </a:rPr>
              <a:t>World → Ego:    pₑ = R(−ψ) · (pʷ − t)        where R is 2D rotation matrix, ψ = heading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ounded Rectangle 8"/>
          <p:cNvSpPr/>
          <p:nvPr/>
        </p:nvSpPr>
        <p:spPr>
          <a:xfrm>
            <a:off x="1371600" y="3566160"/>
            <a:ext cx="9417960" cy="54828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9"/>
          <p:cNvSpPr/>
          <p:nvPr/>
        </p:nvSpPr>
        <p:spPr>
          <a:xfrm>
            <a:off x="1554480" y="3639240"/>
            <a:ext cx="9052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c1c2e"/>
                </a:solidFill>
                <a:latin typeface="Consolas"/>
              </a:rPr>
              <a:t>Steering sign flip:    δ = −u · δₘₐₓ        (negate for QLabs convention)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Picture 10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61" name="TextBox 11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Control Timing Compensation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Rounded Rectangle 3"/>
          <p:cNvSpPr/>
          <p:nvPr/>
        </p:nvSpPr>
        <p:spPr>
          <a:xfrm>
            <a:off x="731520" y="1097280"/>
            <a:ext cx="5120280" cy="164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Rectangle 4"/>
          <p:cNvSpPr/>
          <p:nvPr/>
        </p:nvSpPr>
        <p:spPr>
          <a:xfrm>
            <a:off x="731520" y="1097280"/>
            <a:ext cx="512028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2925360" y="1234440"/>
            <a:ext cx="732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CARLA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960120" y="1554480"/>
            <a:ext cx="4663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20 Hz control loop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Data saved at 4 Hz (every 5th frame)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PID tuned for 20 Hz feedback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ounded Rectangle 7"/>
          <p:cNvSpPr/>
          <p:nvPr/>
        </p:nvSpPr>
        <p:spPr>
          <a:xfrm>
            <a:off x="6309360" y="1097280"/>
            <a:ext cx="5120280" cy="164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Rectangle 8"/>
          <p:cNvSpPr/>
          <p:nvPr/>
        </p:nvSpPr>
        <p:spPr>
          <a:xfrm>
            <a:off x="6309360" y="1097280"/>
            <a:ext cx="512028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8523000" y="1234440"/>
            <a:ext cx="693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QLabs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10"/>
          <p:cNvSpPr/>
          <p:nvPr/>
        </p:nvSpPr>
        <p:spPr>
          <a:xfrm>
            <a:off x="6537960" y="1554480"/>
            <a:ext cx="4663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4 Hz control loop directly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Derivative term needs compensation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Without fix: steering oscillation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ounded Rectangle 11"/>
          <p:cNvSpPr/>
          <p:nvPr/>
        </p:nvSpPr>
        <p:spPr>
          <a:xfrm>
            <a:off x="1371600" y="3108960"/>
            <a:ext cx="9417960" cy="59400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12"/>
          <p:cNvSpPr/>
          <p:nvPr/>
        </p:nvSpPr>
        <p:spPr>
          <a:xfrm>
            <a:off x="1554480" y="3182040"/>
            <a:ext cx="90522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c1c2e"/>
                </a:solidFill>
                <a:latin typeface="Consolas"/>
              </a:rPr>
              <a:t>Derivative compensation: raw_diff / (0.25s / 0.05s)  =  raw_diff / 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ounded Rectangle 13"/>
          <p:cNvSpPr/>
          <p:nvPr/>
        </p:nvSpPr>
        <p:spPr>
          <a:xfrm>
            <a:off x="731520" y="4023360"/>
            <a:ext cx="10698120" cy="4568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14"/>
          <p:cNvSpPr/>
          <p:nvPr/>
        </p:nvSpPr>
        <p:spPr>
          <a:xfrm>
            <a:off x="914400" y="4078080"/>
            <a:ext cx="1033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6a9f"/>
                </a:solidFill>
                <a:latin typeface="Calibri"/>
              </a:rPr>
              <a:t>Normalizes the 4 Hz derivative term to the 20 Hz reference used during CARLA training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Picture 15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77" name="TextBox 1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Camera Configuration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280" name="Table 3"/>
          <p:cNvGraphicFramePr/>
          <p:nvPr/>
        </p:nvGraphicFramePr>
        <p:xfrm>
          <a:off x="609480" y="1234440"/>
          <a:ext cx="10972440" cy="2304000"/>
        </p:xfrm>
        <a:graphic>
          <a:graphicData uri="http://schemas.openxmlformats.org/drawingml/2006/table">
            <a:tbl>
              <a:tblPr/>
              <a:tblGrid>
                <a:gridCol w="3200400"/>
                <a:gridCol w="3886200"/>
                <a:gridCol w="388620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CARLA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QLabs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Mounting position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[−1.5, 0.0, 2.0]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[0.183, 0.0, 0.110]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Resolution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1024×512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820×410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Field of view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110°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160°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Max tiles (InternVL2)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Visual tokens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512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512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</a:tbl>
          </a:graphicData>
        </a:graphic>
      </p:graphicFrame>
      <p:pic>
        <p:nvPicPr>
          <p:cNvPr id="281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82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Speed Estimation &amp; Target-Point Routing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Rounded Rectangle 3"/>
          <p:cNvSpPr/>
          <p:nvPr/>
        </p:nvSpPr>
        <p:spPr>
          <a:xfrm>
            <a:off x="731520" y="1097280"/>
            <a:ext cx="5120280" cy="2285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Rectangle 4"/>
          <p:cNvSpPr/>
          <p:nvPr/>
        </p:nvSpPr>
        <p:spPr>
          <a:xfrm>
            <a:off x="731520" y="1097280"/>
            <a:ext cx="512028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5"/>
          <p:cNvSpPr/>
          <p:nvPr/>
        </p:nvSpPr>
        <p:spPr>
          <a:xfrm>
            <a:off x="2471760" y="1234440"/>
            <a:ext cx="1639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Speed Estimation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6"/>
          <p:cNvSpPr/>
          <p:nvPr/>
        </p:nvSpPr>
        <p:spPr>
          <a:xfrm>
            <a:off x="960120" y="1554480"/>
            <a:ext cx="46630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Single-frame displacement 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Same in training &amp; inference → consistent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Domain-agnostic (no simulator velocity API)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Trade-off: noisier but portable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ounded Rectangle 7"/>
          <p:cNvSpPr/>
          <p:nvPr/>
        </p:nvSpPr>
        <p:spPr>
          <a:xfrm>
            <a:off x="6309360" y="1097280"/>
            <a:ext cx="5120280" cy="2285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Rectangle 8"/>
          <p:cNvSpPr/>
          <p:nvPr/>
        </p:nvSpPr>
        <p:spPr>
          <a:xfrm>
            <a:off x="6309360" y="1097280"/>
            <a:ext cx="512028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9"/>
          <p:cNvSpPr/>
          <p:nvPr/>
        </p:nvSpPr>
        <p:spPr>
          <a:xfrm>
            <a:off x="7921440" y="1234440"/>
            <a:ext cx="1895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Target-Point Routing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10"/>
          <p:cNvSpPr/>
          <p:nvPr/>
        </p:nvSpPr>
        <p:spPr>
          <a:xfrm>
            <a:off x="6537960" y="1554480"/>
            <a:ext cx="46630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85-waypoint roundabout route (JSON config)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Advance along polyline until arc-length &gt; 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Convert target points world → ego frame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Feed to WaypointInputAdaptor MLP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ounded Rectangle 11"/>
          <p:cNvSpPr/>
          <p:nvPr/>
        </p:nvSpPr>
        <p:spPr>
          <a:xfrm>
            <a:off x="1371600" y="3749040"/>
            <a:ext cx="9417960" cy="54828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12"/>
          <p:cNvSpPr/>
          <p:nvPr/>
        </p:nvSpPr>
        <p:spPr>
          <a:xfrm>
            <a:off x="1554480" y="3822120"/>
            <a:ext cx="9052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c1c2e"/>
                </a:solidFill>
                <a:latin typeface="Consolas"/>
              </a:rPr>
              <a:t>vₜ = ||pₜ − pₜ₋₁|| / Δt where Δt = 0.25 s  (at 4 Hz)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Picture 13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296" name="TextBox 14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731520" y="2377440"/>
            <a:ext cx="54360" cy="16455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2"/>
          <p:cNvSpPr/>
          <p:nvPr/>
        </p:nvSpPr>
        <p:spPr>
          <a:xfrm>
            <a:off x="2471760" y="2468880"/>
            <a:ext cx="71258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 Light"/>
              </a:rPr>
              <a:t>Data Collection &amp; Training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3"/>
          <p:cNvSpPr/>
          <p:nvPr/>
        </p:nvSpPr>
        <p:spPr>
          <a:xfrm>
            <a:off x="3767040" y="3474720"/>
            <a:ext cx="45352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888899"/>
                </a:solidFill>
                <a:latin typeface="Calibri"/>
              </a:rPr>
              <a:t>Dataset, LoRA Fine-Tuning, and Convergence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0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01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Data Collection Pipeline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3"/>
          <p:cNvSpPr/>
          <p:nvPr/>
        </p:nvSpPr>
        <p:spPr>
          <a:xfrm>
            <a:off x="731520" y="1051560"/>
            <a:ext cx="10698120" cy="30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700"/>
              </a:spcAft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Expert driving via keyboard teleoperation at 30 Hz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700"/>
              </a:spcAft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Data logging at 4 Hz (Δt = 0.25 s), matching runtime controller frequency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Each frame: 1 RGB JPEG + 1 gzip JSON measurement (position, heading, speed)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700"/>
              </a:spcAft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Route: roundabout navigation with optional single static obstacle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700"/>
              </a:spcAft>
            </a:pPr>
            <a:r>
              <a:rPr b="0" lang="en-US" sz="2000" spc="-1" strike="noStrike">
                <a:solidFill>
                  <a:srgbClr val="2d2d3d"/>
                </a:solidFill>
                <a:latin typeface="Calibri"/>
              </a:rPr>
              <a:t>Multi-actor challenge: QLabs API calls are serialized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Shared mutex prevents simultaneous API calls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Actor update rate lowered to 2 Hz, start times staggered 0–99 ms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Container timeout extended to 10 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06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Dataset Summary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ounded Rectangle 3"/>
          <p:cNvSpPr/>
          <p:nvPr/>
        </p:nvSpPr>
        <p:spPr>
          <a:xfrm>
            <a:off x="731520" y="1097280"/>
            <a:ext cx="210276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4"/>
          <p:cNvSpPr/>
          <p:nvPr/>
        </p:nvSpPr>
        <p:spPr>
          <a:xfrm>
            <a:off x="1054440" y="1234440"/>
            <a:ext cx="1456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2d6a9f"/>
                </a:solidFill>
                <a:latin typeface="Calibri"/>
              </a:rPr>
              <a:t>10,495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5"/>
          <p:cNvSpPr/>
          <p:nvPr/>
        </p:nvSpPr>
        <p:spPr>
          <a:xfrm>
            <a:off x="868680" y="1965960"/>
            <a:ext cx="1828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Total frames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across 55 runs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Rounded Rectangle 6"/>
          <p:cNvSpPr/>
          <p:nvPr/>
        </p:nvSpPr>
        <p:spPr>
          <a:xfrm>
            <a:off x="3108960" y="1097280"/>
            <a:ext cx="210276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7"/>
          <p:cNvSpPr/>
          <p:nvPr/>
        </p:nvSpPr>
        <p:spPr>
          <a:xfrm>
            <a:off x="3405240" y="1234440"/>
            <a:ext cx="1509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d8a72"/>
                </a:solidFill>
                <a:latin typeface="Calibri"/>
              </a:rPr>
              <a:t>40 / 15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8"/>
          <p:cNvSpPr/>
          <p:nvPr/>
        </p:nvSpPr>
        <p:spPr>
          <a:xfrm>
            <a:off x="3246120" y="1965960"/>
            <a:ext cx="1828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Train / Val runs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ounded Rectangle 9"/>
          <p:cNvSpPr/>
          <p:nvPr/>
        </p:nvSpPr>
        <p:spPr>
          <a:xfrm>
            <a:off x="5486400" y="1097280"/>
            <a:ext cx="210276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TextBox 10"/>
          <p:cNvSpPr/>
          <p:nvPr/>
        </p:nvSpPr>
        <p:spPr>
          <a:xfrm>
            <a:off x="5601240" y="1234440"/>
            <a:ext cx="1872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cf7c00"/>
                </a:solidFill>
                <a:latin typeface="Calibri"/>
              </a:rPr>
              <a:t>~470 MiB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11"/>
          <p:cNvSpPr/>
          <p:nvPr/>
        </p:nvSpPr>
        <p:spPr>
          <a:xfrm>
            <a:off x="5623560" y="1965960"/>
            <a:ext cx="1828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On-disk footprint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Rounded Rectangle 12"/>
          <p:cNvSpPr/>
          <p:nvPr/>
        </p:nvSpPr>
        <p:spPr>
          <a:xfrm>
            <a:off x="7863840" y="1097280"/>
            <a:ext cx="210276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13"/>
          <p:cNvSpPr/>
          <p:nvPr/>
        </p:nvSpPr>
        <p:spPr>
          <a:xfrm>
            <a:off x="8696520" y="1234440"/>
            <a:ext cx="437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ab0033"/>
                </a:solidFill>
                <a:latin typeface="Calibri"/>
              </a:rPr>
              <a:t>5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14"/>
          <p:cNvSpPr/>
          <p:nvPr/>
        </p:nvSpPr>
        <p:spPr>
          <a:xfrm>
            <a:off x="8001000" y="1965960"/>
            <a:ext cx="1828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Obstacle placement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positions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1" name="Table 15"/>
          <p:cNvGraphicFramePr/>
          <p:nvPr/>
        </p:nvGraphicFramePr>
        <p:xfrm>
          <a:off x="1523880" y="2926080"/>
          <a:ext cx="9143640" cy="10972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Runs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Frames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Run Length Range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Training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40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7,498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98 – 301 frames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Validation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15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2,997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171 – 234 frames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322" name="Rounded Rectangle 16"/>
          <p:cNvSpPr/>
          <p:nvPr/>
        </p:nvSpPr>
        <p:spPr>
          <a:xfrm>
            <a:off x="731520" y="4297680"/>
            <a:ext cx="10698120" cy="41112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17"/>
          <p:cNvSpPr/>
          <p:nvPr/>
        </p:nvSpPr>
        <p:spPr>
          <a:xfrm>
            <a:off x="914400" y="4352400"/>
            <a:ext cx="10332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d6a9f"/>
                </a:solidFill>
                <a:latin typeface="Calibri"/>
              </a:rPr>
              <a:t>Each frame: 1 RGB JPEG + 1 gzip-compressed JSON measurement  ·  Obstacle waypoint indices: 25, 35, 50, 65, 75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Picture 18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25" name="TextBox 19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QLabs Roundabout Environment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28" name="Picture 3" descr="SDCS_RoadMap_RightHandTraffic.png"/>
          <p:cNvPicPr/>
          <p:nvPr/>
        </p:nvPicPr>
        <p:blipFill>
          <a:blip r:embed="rId1"/>
          <a:stretch/>
        </p:blipFill>
        <p:spPr>
          <a:xfrm>
            <a:off x="4023720" y="1143000"/>
            <a:ext cx="4143600" cy="4845960"/>
          </a:xfrm>
          <a:prstGeom prst="rect">
            <a:avLst/>
          </a:prstGeom>
          <a:ln w="0">
            <a:noFill/>
          </a:ln>
        </p:spPr>
      </p:pic>
      <p:sp>
        <p:nvSpPr>
          <p:cNvPr id="329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SDCS road map with numbered waypoint nodes. Roundabout route used for training and evaluation.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31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LoRA Fine-Tuning Strategy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Rounded Rectangle 3"/>
          <p:cNvSpPr/>
          <p:nvPr/>
        </p:nvSpPr>
        <p:spPr>
          <a:xfrm>
            <a:off x="731520" y="10972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4"/>
          <p:cNvSpPr/>
          <p:nvPr/>
        </p:nvSpPr>
        <p:spPr>
          <a:xfrm>
            <a:off x="1221480" y="1234440"/>
            <a:ext cx="1397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2d6a9f"/>
                </a:solidFill>
                <a:latin typeface="Calibri"/>
              </a:rPr>
              <a:t>17.6M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5"/>
          <p:cNvSpPr/>
          <p:nvPr/>
        </p:nvSpPr>
        <p:spPr>
          <a:xfrm>
            <a:off x="868680" y="1965960"/>
            <a:ext cx="2102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LoRA adapter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parameters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Rounded Rectangle 6"/>
          <p:cNvSpPr/>
          <p:nvPr/>
        </p:nvSpPr>
        <p:spPr>
          <a:xfrm>
            <a:off x="3383280" y="10972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TextBox 7"/>
          <p:cNvSpPr/>
          <p:nvPr/>
        </p:nvSpPr>
        <p:spPr>
          <a:xfrm>
            <a:off x="3951720" y="1234440"/>
            <a:ext cx="1240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d8a72"/>
                </a:solidFill>
                <a:latin typeface="Calibri"/>
              </a:rPr>
              <a:t>r = 32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8"/>
          <p:cNvSpPr/>
          <p:nvPr/>
        </p:nvSpPr>
        <p:spPr>
          <a:xfrm>
            <a:off x="3520440" y="1965960"/>
            <a:ext cx="2102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LoRA rank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α = 64, dropout = 0.1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Rounded Rectangle 9"/>
          <p:cNvSpPr/>
          <p:nvPr/>
        </p:nvSpPr>
        <p:spPr>
          <a:xfrm>
            <a:off x="6035040" y="10972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10"/>
          <p:cNvSpPr/>
          <p:nvPr/>
        </p:nvSpPr>
        <p:spPr>
          <a:xfrm>
            <a:off x="6540840" y="1234440"/>
            <a:ext cx="13651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cf7c00"/>
                </a:solidFill>
                <a:latin typeface="Calibri"/>
              </a:rPr>
              <a:t>Frozen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11"/>
          <p:cNvSpPr/>
          <p:nvPr/>
        </p:nvSpPr>
        <p:spPr>
          <a:xfrm>
            <a:off x="6172200" y="1965960"/>
            <a:ext cx="2102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300M-param vision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encoder (InternViT)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ounded Rectangle 12"/>
          <p:cNvSpPr/>
          <p:nvPr/>
        </p:nvSpPr>
        <p:spPr>
          <a:xfrm>
            <a:off x="8686800" y="1097280"/>
            <a:ext cx="237708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13"/>
          <p:cNvSpPr/>
          <p:nvPr/>
        </p:nvSpPr>
        <p:spPr>
          <a:xfrm>
            <a:off x="9069120" y="1234440"/>
            <a:ext cx="161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ab0033"/>
                </a:solidFill>
                <a:latin typeface="Calibri"/>
              </a:rPr>
              <a:t>Epoch 13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14"/>
          <p:cNvSpPr/>
          <p:nvPr/>
        </p:nvSpPr>
        <p:spPr>
          <a:xfrm>
            <a:off x="8823960" y="1965960"/>
            <a:ext cx="21027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CARLA pretrained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starting checkpoint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15"/>
          <p:cNvSpPr/>
          <p:nvPr/>
        </p:nvSpPr>
        <p:spPr>
          <a:xfrm>
            <a:off x="731520" y="283464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Applied to all linear layers of Qwen2-0.5B language 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6"/>
          <p:cNvSpPr/>
          <p:nvPr/>
        </p:nvSpPr>
        <p:spPr>
          <a:xfrm>
            <a:off x="731520" y="329184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No language/commentary supervision: constant command = 4 (“follow the road”)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17"/>
          <p:cNvSpPr/>
          <p:nvPr/>
        </p:nvSpPr>
        <p:spPr>
          <a:xfrm>
            <a:off x="731520" y="374904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Trained exclusively in target-point navigation mode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Picture 18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50" name="TextBox 19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Training Hyperparameters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353" name="Table 3"/>
          <p:cNvGraphicFramePr/>
          <p:nvPr/>
        </p:nvGraphicFramePr>
        <p:xfrm>
          <a:off x="609480" y="1234440"/>
          <a:ext cx="10972440" cy="4224240"/>
        </p:xfrm>
        <a:graphic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Backbone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InternVL2-1B (OpenGVLab)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Learning rate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2e-5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Optimizer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AdamW (β = [0.9, 0.999], wd = 0.1)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Batch size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4 (effective: 16 with grad accum 4)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Max epochs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15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Precision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16-mixed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Strategy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DeepSpeed Stage 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GPU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NVIDIA RTX 5070 Ti (16 GB VRAM)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LR schedule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One-cycle with 5% warmup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Seed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42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pic>
        <p:nvPicPr>
          <p:cNvPr id="354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55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Training Loss Curves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58" name="Picture 3" descr="metrics.png"/>
          <p:cNvPicPr/>
          <p:nvPr/>
        </p:nvPicPr>
        <p:blipFill>
          <a:blip r:embed="rId1"/>
          <a:stretch/>
        </p:blipFill>
        <p:spPr>
          <a:xfrm>
            <a:off x="1734120" y="1143000"/>
            <a:ext cx="8723160" cy="4845960"/>
          </a:xfrm>
          <a:prstGeom prst="rect">
            <a:avLst/>
          </a:prstGeom>
          <a:ln w="0">
            <a:noFill/>
          </a:ln>
        </p:spPr>
      </p:pic>
      <p:sp>
        <p:nvSpPr>
          <p:cNvPr id="359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Total, route, speed, and language loss over 15 epochs. Rapid convergence in first 3–5 epochs.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0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61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Average Displacement Error (ADE) Convergence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64" name="Picture 3" descr="policy_vs_expert_curve.png"/>
          <p:cNvPicPr/>
          <p:nvPr/>
        </p:nvPicPr>
        <p:blipFill>
          <a:blip r:embed="rId1"/>
          <a:stretch/>
        </p:blipFill>
        <p:spPr>
          <a:xfrm>
            <a:off x="2296440" y="1143000"/>
            <a:ext cx="7598160" cy="4845960"/>
          </a:xfrm>
          <a:prstGeom prst="rect">
            <a:avLst/>
          </a:prstGeom>
          <a:ln w="0">
            <a:noFill/>
          </a:ln>
        </p:spPr>
      </p:pic>
      <p:sp>
        <p:nvSpPr>
          <p:cNvPr id="365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25% ADE reduction: 0.114 m (epoch 0) → 0.085 m (epoch 11). Expert baseline ADE = 0.087 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67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Rectangle 1"/>
          <p:cNvSpPr/>
          <p:nvPr/>
        </p:nvSpPr>
        <p:spPr>
          <a:xfrm>
            <a:off x="731520" y="2377440"/>
            <a:ext cx="54360" cy="16455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TextBox 2"/>
          <p:cNvSpPr/>
          <p:nvPr/>
        </p:nvSpPr>
        <p:spPr>
          <a:xfrm>
            <a:off x="3866400" y="2468880"/>
            <a:ext cx="43369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 Light"/>
              </a:rPr>
              <a:t>Inference Stack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3"/>
          <p:cNvSpPr/>
          <p:nvPr/>
        </p:nvSpPr>
        <p:spPr>
          <a:xfrm>
            <a:off x="3941640" y="3474720"/>
            <a:ext cx="41860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888899"/>
                </a:solidFill>
                <a:latin typeface="Calibri"/>
              </a:rPr>
              <a:t>Runtime Pipeline and Control Conversion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1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372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Runtime Inference Pipeline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Rounded Rectangle 3"/>
          <p:cNvSpPr/>
          <p:nvPr/>
        </p:nvSpPr>
        <p:spPr>
          <a:xfrm>
            <a:off x="548640" y="1188720"/>
            <a:ext cx="2011320" cy="219420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Oval 4"/>
          <p:cNvSpPr/>
          <p:nvPr/>
        </p:nvSpPr>
        <p:spPr>
          <a:xfrm>
            <a:off x="1234440" y="1325880"/>
            <a:ext cx="594000" cy="594000"/>
          </a:xfrm>
          <a:prstGeom prst="ellipse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1370880" y="1371600"/>
            <a:ext cx="321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1130760" y="2057400"/>
            <a:ext cx="847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2d3d"/>
                </a:solidFill>
                <a:latin typeface="Calibri"/>
              </a:rPr>
              <a:t>Capture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640080" y="2468880"/>
            <a:ext cx="1828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Camera frame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from CSI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ight Arrow 8"/>
          <p:cNvSpPr/>
          <p:nvPr/>
        </p:nvSpPr>
        <p:spPr>
          <a:xfrm>
            <a:off x="2560320" y="2103120"/>
            <a:ext cx="22824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Rounded Rectangle 9"/>
          <p:cNvSpPr/>
          <p:nvPr/>
        </p:nvSpPr>
        <p:spPr>
          <a:xfrm>
            <a:off x="2788920" y="1188720"/>
            <a:ext cx="2011320" cy="219420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Oval 10"/>
          <p:cNvSpPr/>
          <p:nvPr/>
        </p:nvSpPr>
        <p:spPr>
          <a:xfrm>
            <a:off x="3474720" y="1325880"/>
            <a:ext cx="594000" cy="594000"/>
          </a:xfrm>
          <a:prstGeom prst="ellipse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11"/>
          <p:cNvSpPr/>
          <p:nvPr/>
        </p:nvSpPr>
        <p:spPr>
          <a:xfrm>
            <a:off x="3611160" y="1371600"/>
            <a:ext cx="321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12"/>
          <p:cNvSpPr/>
          <p:nvPr/>
        </p:nvSpPr>
        <p:spPr>
          <a:xfrm>
            <a:off x="3314520" y="2057400"/>
            <a:ext cx="959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2d3d"/>
                </a:solidFill>
                <a:latin typeface="Calibri"/>
              </a:rPr>
              <a:t>Ego State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13"/>
          <p:cNvSpPr/>
          <p:nvPr/>
        </p:nvSpPr>
        <p:spPr>
          <a:xfrm>
            <a:off x="2880360" y="2468880"/>
            <a:ext cx="1828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Position, heading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speed estimate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ight Arrow 14"/>
          <p:cNvSpPr/>
          <p:nvPr/>
        </p:nvSpPr>
        <p:spPr>
          <a:xfrm>
            <a:off x="4800600" y="2103120"/>
            <a:ext cx="22824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Rounded Rectangle 15"/>
          <p:cNvSpPr/>
          <p:nvPr/>
        </p:nvSpPr>
        <p:spPr>
          <a:xfrm>
            <a:off x="5029200" y="1188720"/>
            <a:ext cx="2011320" cy="219420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Oval 16"/>
          <p:cNvSpPr/>
          <p:nvPr/>
        </p:nvSpPr>
        <p:spPr>
          <a:xfrm>
            <a:off x="5715000" y="1325880"/>
            <a:ext cx="594000" cy="594000"/>
          </a:xfrm>
          <a:prstGeom prst="ellipse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9" name="TextBox 17"/>
          <p:cNvSpPr/>
          <p:nvPr/>
        </p:nvSpPr>
        <p:spPr>
          <a:xfrm>
            <a:off x="5851440" y="1371600"/>
            <a:ext cx="321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18"/>
          <p:cNvSpPr/>
          <p:nvPr/>
        </p:nvSpPr>
        <p:spPr>
          <a:xfrm>
            <a:off x="5532120" y="2057400"/>
            <a:ext cx="1005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2d3d"/>
                </a:solidFill>
                <a:latin typeface="Calibri"/>
              </a:rPr>
              <a:t>Target Pts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19"/>
          <p:cNvSpPr/>
          <p:nvPr/>
        </p:nvSpPr>
        <p:spPr>
          <a:xfrm>
            <a:off x="5120640" y="2468880"/>
            <a:ext cx="1828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Ego-frame from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active route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Right Arrow 20"/>
          <p:cNvSpPr/>
          <p:nvPr/>
        </p:nvSpPr>
        <p:spPr>
          <a:xfrm>
            <a:off x="7040880" y="2103120"/>
            <a:ext cx="22824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Rounded Rectangle 21"/>
          <p:cNvSpPr/>
          <p:nvPr/>
        </p:nvSpPr>
        <p:spPr>
          <a:xfrm>
            <a:off x="7269480" y="1188720"/>
            <a:ext cx="2011320" cy="219420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Oval 22"/>
          <p:cNvSpPr/>
          <p:nvPr/>
        </p:nvSpPr>
        <p:spPr>
          <a:xfrm>
            <a:off x="7955280" y="1325880"/>
            <a:ext cx="594000" cy="594000"/>
          </a:xfrm>
          <a:prstGeom prst="ellipse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TextBox 23"/>
          <p:cNvSpPr/>
          <p:nvPr/>
        </p:nvSpPr>
        <p:spPr>
          <a:xfrm>
            <a:off x="8091720" y="1371600"/>
            <a:ext cx="321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24"/>
          <p:cNvSpPr/>
          <p:nvPr/>
        </p:nvSpPr>
        <p:spPr>
          <a:xfrm>
            <a:off x="7799760" y="2057400"/>
            <a:ext cx="950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2d3d"/>
                </a:solidFill>
                <a:latin typeface="Calibri"/>
              </a:rPr>
              <a:t>VLA Infer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25"/>
          <p:cNvSpPr/>
          <p:nvPr/>
        </p:nvSpPr>
        <p:spPr>
          <a:xfrm>
            <a:off x="7360920" y="2468880"/>
            <a:ext cx="1828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Or reuse cached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prediction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Right Arrow 26"/>
          <p:cNvSpPr/>
          <p:nvPr/>
        </p:nvSpPr>
        <p:spPr>
          <a:xfrm>
            <a:off x="9281160" y="2103120"/>
            <a:ext cx="22824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9" name="Rounded Rectangle 27"/>
          <p:cNvSpPr/>
          <p:nvPr/>
        </p:nvSpPr>
        <p:spPr>
          <a:xfrm>
            <a:off x="9509760" y="1188720"/>
            <a:ext cx="2011320" cy="219420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Oval 28"/>
          <p:cNvSpPr/>
          <p:nvPr/>
        </p:nvSpPr>
        <p:spPr>
          <a:xfrm>
            <a:off x="10195560" y="1325880"/>
            <a:ext cx="594000" cy="594000"/>
          </a:xfrm>
          <a:prstGeom prst="ellipse">
            <a:avLst/>
          </a:prstGeom>
          <a:solidFill>
            <a:srgbClr val="cf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29"/>
          <p:cNvSpPr/>
          <p:nvPr/>
        </p:nvSpPr>
        <p:spPr>
          <a:xfrm>
            <a:off x="10332000" y="1371600"/>
            <a:ext cx="321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30"/>
          <p:cNvSpPr/>
          <p:nvPr/>
        </p:nvSpPr>
        <p:spPr>
          <a:xfrm>
            <a:off x="9953280" y="2057400"/>
            <a:ext cx="1124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2d3d"/>
                </a:solidFill>
                <a:latin typeface="Calibri"/>
              </a:rPr>
              <a:t>Commands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31"/>
          <p:cNvSpPr/>
          <p:nvPr/>
        </p:nvSpPr>
        <p:spPr>
          <a:xfrm>
            <a:off x="9601200" y="2468880"/>
            <a:ext cx="1828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Waypoints →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QCar 2 cmds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Rounded Rectangle 32"/>
          <p:cNvSpPr/>
          <p:nvPr/>
        </p:nvSpPr>
        <p:spPr>
          <a:xfrm>
            <a:off x="731520" y="3749040"/>
            <a:ext cx="10698120" cy="4568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TextBox 33"/>
          <p:cNvSpPr/>
          <p:nvPr/>
        </p:nvSpPr>
        <p:spPr>
          <a:xfrm>
            <a:off x="914400" y="3803760"/>
            <a:ext cx="1033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d6a9f"/>
                </a:solidFill>
                <a:latin typeface="Calibri"/>
              </a:rPr>
              <a:t>Nominal control rate: 4 Hz (Δt = 0.25 s)  ·  Inference stride configurable  ·  All eval runs: stride =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6" name="Picture 3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407" name="TextBox 3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Control Conversion: Speed &amp; Steering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Rounded Rectangle 3"/>
          <p:cNvSpPr/>
          <p:nvPr/>
        </p:nvSpPr>
        <p:spPr>
          <a:xfrm>
            <a:off x="731520" y="1097280"/>
            <a:ext cx="5120280" cy="1828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Rectangle 4"/>
          <p:cNvSpPr/>
          <p:nvPr/>
        </p:nvSpPr>
        <p:spPr>
          <a:xfrm>
            <a:off x="731520" y="1097280"/>
            <a:ext cx="512028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TextBox 5"/>
          <p:cNvSpPr/>
          <p:nvPr/>
        </p:nvSpPr>
        <p:spPr>
          <a:xfrm>
            <a:off x="2335320" y="1234440"/>
            <a:ext cx="1912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Longitudinal (Speed)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6"/>
          <p:cNvSpPr/>
          <p:nvPr/>
        </p:nvSpPr>
        <p:spPr>
          <a:xfrm>
            <a:off x="960120" y="1554480"/>
            <a:ext cx="4663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Distance between first two speed waypoints / Δt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Clipped to [0, v_max] for safety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Sent directly to QCar 2 velocity interface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Rounded Rectangle 7"/>
          <p:cNvSpPr/>
          <p:nvPr/>
        </p:nvSpPr>
        <p:spPr>
          <a:xfrm>
            <a:off x="6309360" y="1097280"/>
            <a:ext cx="5120280" cy="1828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Rectangle 8"/>
          <p:cNvSpPr/>
          <p:nvPr/>
        </p:nvSpPr>
        <p:spPr>
          <a:xfrm>
            <a:off x="6309360" y="1097280"/>
            <a:ext cx="512028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TextBox 9"/>
          <p:cNvSpPr/>
          <p:nvPr/>
        </p:nvSpPr>
        <p:spPr>
          <a:xfrm>
            <a:off x="7892640" y="1234440"/>
            <a:ext cx="1953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Lateral (Steering PID)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10"/>
          <p:cNvSpPr/>
          <p:nvPr/>
        </p:nvSpPr>
        <p:spPr>
          <a:xfrm>
            <a:off x="6537960" y="1554480"/>
            <a:ext cx="4663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Heading error scaled: rad → deg → /90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Derivative: raw_diff / 5 (4 Hz → 20 Hz ref)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Integral: K_I = 0 (currently inactive)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ounded Rectangle 11"/>
          <p:cNvSpPr/>
          <p:nvPr/>
        </p:nvSpPr>
        <p:spPr>
          <a:xfrm>
            <a:off x="1371600" y="3291840"/>
            <a:ext cx="9417960" cy="50256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TextBox 12"/>
          <p:cNvSpPr/>
          <p:nvPr/>
        </p:nvSpPr>
        <p:spPr>
          <a:xfrm>
            <a:off x="1554480" y="3364920"/>
            <a:ext cx="9052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c1c2e"/>
                </a:solidFill>
                <a:latin typeface="Consolas"/>
              </a:rPr>
              <a:t>v_des = clip(||s₁ − s₀||/ Δt_model,0,v_max 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Rounded Rectangle 13"/>
          <p:cNvSpPr/>
          <p:nvPr/>
        </p:nvSpPr>
        <p:spPr>
          <a:xfrm>
            <a:off x="1371600" y="4114800"/>
            <a:ext cx="9417960" cy="502560"/>
          </a:xfrm>
          <a:prstGeom prst="roundRect">
            <a:avLst>
              <a:gd name="adj" fmla="val 8000"/>
            </a:avLst>
          </a:prstGeom>
          <a:solidFill>
            <a:srgbClr val="e8ecf4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1554480" y="4187880"/>
            <a:ext cx="9052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c1c2e"/>
                </a:solidFill>
                <a:latin typeface="Consolas"/>
              </a:rPr>
              <a:t>δ = −u · δ_max(steering sign flip for QLabs convention)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2" name="Picture 15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423" name="TextBox 1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731520" y="2377440"/>
            <a:ext cx="54360" cy="16455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TextBox 2"/>
          <p:cNvSpPr/>
          <p:nvPr/>
        </p:nvSpPr>
        <p:spPr>
          <a:xfrm>
            <a:off x="4527720" y="2468880"/>
            <a:ext cx="30142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 Light"/>
              </a:rPr>
              <a:t>Evaluation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Box 3"/>
          <p:cNvSpPr/>
          <p:nvPr/>
        </p:nvSpPr>
        <p:spPr>
          <a:xfrm>
            <a:off x="4243320" y="3474720"/>
            <a:ext cx="35827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888899"/>
                </a:solidFill>
                <a:latin typeface="Calibri"/>
              </a:rPr>
              <a:t>Test Design, Metrics, and Baselines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7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428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Evaluation Design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Rounded Rectangle 3"/>
          <p:cNvSpPr/>
          <p:nvPr/>
        </p:nvSpPr>
        <p:spPr>
          <a:xfrm>
            <a:off x="731520" y="1097280"/>
            <a:ext cx="320004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4"/>
          <p:cNvSpPr/>
          <p:nvPr/>
        </p:nvSpPr>
        <p:spPr>
          <a:xfrm>
            <a:off x="1957320" y="1234440"/>
            <a:ext cx="7480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2d6a9f"/>
                </a:solidFill>
                <a:latin typeface="Calibri"/>
              </a:rPr>
              <a:t>15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5"/>
          <p:cNvSpPr/>
          <p:nvPr/>
        </p:nvSpPr>
        <p:spPr>
          <a:xfrm>
            <a:off x="868680" y="1965960"/>
            <a:ext cx="2925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Total test runs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per full sweep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ounded Rectangle 6"/>
          <p:cNvSpPr/>
          <p:nvPr/>
        </p:nvSpPr>
        <p:spPr>
          <a:xfrm>
            <a:off x="4297680" y="1097280"/>
            <a:ext cx="320004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TextBox 7"/>
          <p:cNvSpPr/>
          <p:nvPr/>
        </p:nvSpPr>
        <p:spPr>
          <a:xfrm>
            <a:off x="5116680" y="1234440"/>
            <a:ext cx="15616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0d8a72"/>
                </a:solidFill>
                <a:latin typeface="Calibri"/>
              </a:rPr>
              <a:t>5 + 10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8"/>
          <p:cNvSpPr/>
          <p:nvPr/>
        </p:nvSpPr>
        <p:spPr>
          <a:xfrm>
            <a:off x="4434840" y="1965960"/>
            <a:ext cx="2925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Baseline + obstacle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runs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Rounded Rectangle 9"/>
          <p:cNvSpPr/>
          <p:nvPr/>
        </p:nvSpPr>
        <p:spPr>
          <a:xfrm>
            <a:off x="7863840" y="1097280"/>
            <a:ext cx="3200040" cy="137124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TextBox 10"/>
          <p:cNvSpPr/>
          <p:nvPr/>
        </p:nvSpPr>
        <p:spPr>
          <a:xfrm>
            <a:off x="9231480" y="1234440"/>
            <a:ext cx="4644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cf7c00"/>
                </a:solidFill>
                <a:latin typeface="Calibri"/>
              </a:rPr>
              <a:t>5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11"/>
          <p:cNvSpPr/>
          <p:nvPr/>
        </p:nvSpPr>
        <p:spPr>
          <a:xfrm>
            <a:off x="8001000" y="1965960"/>
            <a:ext cx="2925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Obstacle placement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variants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12"/>
          <p:cNvSpPr/>
          <p:nvPr/>
        </p:nvSpPr>
        <p:spPr>
          <a:xfrm>
            <a:off x="731520" y="274320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Baseline (no obstacle): 5 repeated runs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13"/>
          <p:cNvSpPr/>
          <p:nvPr/>
        </p:nvSpPr>
        <p:spPr>
          <a:xfrm>
            <a:off x="731520" y="320040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Static obstacle variants 1–5: 2 repeated runs each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14"/>
          <p:cNvSpPr/>
          <p:nvPr/>
        </p:nvSpPr>
        <p:spPr>
          <a:xfrm>
            <a:off x="731520" y="3657600"/>
            <a:ext cx="1069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d2d3d"/>
                </a:solidFill>
                <a:latin typeface="Calibri"/>
              </a:rPr>
              <a:t>Placements span: early roundabout, mid, exit, straight, late (curved)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Rounded Rectangle 15"/>
          <p:cNvSpPr/>
          <p:nvPr/>
        </p:nvSpPr>
        <p:spPr>
          <a:xfrm>
            <a:off x="731520" y="4297680"/>
            <a:ext cx="10698120" cy="502560"/>
          </a:xfrm>
          <a:prstGeom prst="roundRect">
            <a:avLst>
              <a:gd name="adj" fmla="val 8000"/>
            </a:avLst>
          </a:prstGeom>
          <a:solidFill>
            <a:srgbClr val="f4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16"/>
          <p:cNvSpPr/>
          <p:nvPr/>
        </p:nvSpPr>
        <p:spPr>
          <a:xfrm>
            <a:off x="914400" y="4352400"/>
            <a:ext cx="10332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b0033"/>
                </a:solidFill>
                <a:latin typeface="Calibri"/>
              </a:rPr>
              <a:t>Caveat: test obstacle positions are identical to training positions — this is an in-distribution reliability test, not a generalization test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5" name="Picture 17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446" name="TextBox 18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Evaluation Metrics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Rounded Rectangle 3"/>
          <p:cNvSpPr/>
          <p:nvPr/>
        </p:nvSpPr>
        <p:spPr>
          <a:xfrm>
            <a:off x="731520" y="1097280"/>
            <a:ext cx="5303160" cy="1919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0" name="Rectangle 4"/>
          <p:cNvSpPr/>
          <p:nvPr/>
        </p:nvSpPr>
        <p:spPr>
          <a:xfrm>
            <a:off x="731520" y="1097280"/>
            <a:ext cx="530316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TextBox 5"/>
          <p:cNvSpPr/>
          <p:nvPr/>
        </p:nvSpPr>
        <p:spPr>
          <a:xfrm>
            <a:off x="2580120" y="1234440"/>
            <a:ext cx="1605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Lateral Deviation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6"/>
          <p:cNvSpPr/>
          <p:nvPr/>
        </p:nvSpPr>
        <p:spPr>
          <a:xfrm>
            <a:off x="960120" y="1554480"/>
            <a:ext cx="484596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Cross-track error: point-to-polyline-segment distance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Reports both mean and max deviation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Rounded Rectangle 7"/>
          <p:cNvSpPr/>
          <p:nvPr/>
        </p:nvSpPr>
        <p:spPr>
          <a:xfrm>
            <a:off x="6400800" y="1097280"/>
            <a:ext cx="5303160" cy="1919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4" name="Rectangle 8"/>
          <p:cNvSpPr/>
          <p:nvPr/>
        </p:nvSpPr>
        <p:spPr>
          <a:xfrm>
            <a:off x="6400800" y="1097280"/>
            <a:ext cx="530316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TextBox 9"/>
          <p:cNvSpPr/>
          <p:nvPr/>
        </p:nvSpPr>
        <p:spPr>
          <a:xfrm>
            <a:off x="8302680" y="1234440"/>
            <a:ext cx="1499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Route Coverage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Box 10"/>
          <p:cNvSpPr/>
          <p:nvPr/>
        </p:nvSpPr>
        <p:spPr>
          <a:xfrm>
            <a:off x="6629400" y="1554480"/>
            <a:ext cx="484596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Waypoint reached within r = 1.5 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Coverage = reached / total × 100%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Rounded Rectangle 11"/>
          <p:cNvSpPr/>
          <p:nvPr/>
        </p:nvSpPr>
        <p:spPr>
          <a:xfrm>
            <a:off x="731520" y="3383280"/>
            <a:ext cx="5303160" cy="1919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Rectangle 12"/>
          <p:cNvSpPr/>
          <p:nvPr/>
        </p:nvSpPr>
        <p:spPr>
          <a:xfrm>
            <a:off x="731520" y="3383280"/>
            <a:ext cx="5303160" cy="54360"/>
          </a:xfrm>
          <a:prstGeom prst="rect">
            <a:avLst/>
          </a:prstGeom>
          <a:solidFill>
            <a:srgbClr val="cf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9" name="TextBox 13"/>
          <p:cNvSpPr/>
          <p:nvPr/>
        </p:nvSpPr>
        <p:spPr>
          <a:xfrm>
            <a:off x="3031920" y="3520440"/>
            <a:ext cx="70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f7c00"/>
                </a:solidFill>
                <a:latin typeface="Calibri"/>
              </a:rPr>
              <a:t>Safety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14"/>
          <p:cNvSpPr/>
          <p:nvPr/>
        </p:nvSpPr>
        <p:spPr>
          <a:xfrm>
            <a:off x="960120" y="3840480"/>
            <a:ext cx="484596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Bumper-hit flags from QLabs API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Stop detection at speed &lt; 0.05 m/s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Rounded Rectangle 15"/>
          <p:cNvSpPr/>
          <p:nvPr/>
        </p:nvSpPr>
        <p:spPr>
          <a:xfrm>
            <a:off x="6400800" y="3383280"/>
            <a:ext cx="5303160" cy="1919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Rectangle 16"/>
          <p:cNvSpPr/>
          <p:nvPr/>
        </p:nvSpPr>
        <p:spPr>
          <a:xfrm>
            <a:off x="6400800" y="3383280"/>
            <a:ext cx="5303160" cy="54360"/>
          </a:xfrm>
          <a:prstGeom prst="rect">
            <a:avLst/>
          </a:prstGeom>
          <a:solidFill>
            <a:srgbClr val="888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17"/>
          <p:cNvSpPr/>
          <p:nvPr/>
        </p:nvSpPr>
        <p:spPr>
          <a:xfrm>
            <a:off x="8609760" y="3520440"/>
            <a:ext cx="885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888899"/>
                </a:solidFill>
                <a:latin typeface="Calibri"/>
              </a:rPr>
              <a:t>Timeout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18"/>
          <p:cNvSpPr/>
          <p:nvPr/>
        </p:nvSpPr>
        <p:spPr>
          <a:xfrm>
            <a:off x="6629400" y="3840480"/>
            <a:ext cx="484596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Max step count + forward-progress thresholds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Prevents infinite loops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5" name="Picture 19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466" name="TextBox 20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29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ACC Baseline: LiDAR Filtering Pipeline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69" name="Picture 3" descr="lidar_filtering_explained.png"/>
          <p:cNvPicPr/>
          <p:nvPr/>
        </p:nvPicPr>
        <p:blipFill>
          <a:blip r:embed="rId1"/>
          <a:stretch/>
        </p:blipFill>
        <p:spPr>
          <a:xfrm>
            <a:off x="3169080" y="1143000"/>
            <a:ext cx="5852880" cy="4845960"/>
          </a:xfrm>
          <a:prstGeom prst="rect">
            <a:avLst/>
          </a:prstGeom>
          <a:ln w="0">
            <a:noFill/>
          </a:ln>
        </p:spPr>
      </p:pic>
      <p:sp>
        <p:nvSpPr>
          <p:cNvPr id="470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4-step LiDAR filter: raw → forward cone → world frame → lane boundary. Pure-pursuit lateral with 4.5 m lookahead.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1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472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Obstacle Placement Map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75" name="Picture 3" descr="roundabout_obstacle_map.png"/>
          <p:cNvPicPr/>
          <p:nvPr/>
        </p:nvPicPr>
        <p:blipFill>
          <a:blip r:embed="rId1"/>
          <a:stretch/>
        </p:blipFill>
        <p:spPr>
          <a:xfrm>
            <a:off x="2665080" y="1143000"/>
            <a:ext cx="6860880" cy="4845960"/>
          </a:xfrm>
          <a:prstGeom prst="rect">
            <a:avLst/>
          </a:prstGeom>
          <a:ln w="0">
            <a:noFill/>
          </a:ln>
        </p:spPr>
      </p:pic>
      <p:sp>
        <p:nvSpPr>
          <p:cNvPr id="476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5 obstacle variants: green = clean stop, orange = low-speed contact, red = collision.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7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478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ectangle 1"/>
          <p:cNvSpPr/>
          <p:nvPr/>
        </p:nvSpPr>
        <p:spPr>
          <a:xfrm>
            <a:off x="731520" y="2377440"/>
            <a:ext cx="54360" cy="16455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TextBox 2"/>
          <p:cNvSpPr/>
          <p:nvPr/>
        </p:nvSpPr>
        <p:spPr>
          <a:xfrm>
            <a:off x="4973400" y="2468880"/>
            <a:ext cx="2122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 Light"/>
              </a:rPr>
              <a:t>Results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3"/>
          <p:cNvSpPr/>
          <p:nvPr/>
        </p:nvSpPr>
        <p:spPr>
          <a:xfrm>
            <a:off x="2829240" y="3474720"/>
            <a:ext cx="6411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888899"/>
                </a:solidFill>
                <a:latin typeface="Calibri"/>
              </a:rPr>
              <a:t>Training Convergence, Route Following, and Obstacle Avoidance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2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483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Training Results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Rounded Rectangle 3"/>
          <p:cNvSpPr/>
          <p:nvPr/>
        </p:nvSpPr>
        <p:spPr>
          <a:xfrm>
            <a:off x="731520" y="1097280"/>
            <a:ext cx="2742840" cy="155412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TextBox 4"/>
          <p:cNvSpPr/>
          <p:nvPr/>
        </p:nvSpPr>
        <p:spPr>
          <a:xfrm>
            <a:off x="1481040" y="1234440"/>
            <a:ext cx="1243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2d6a9f"/>
                </a:solidFill>
                <a:latin typeface="Calibri"/>
              </a:rPr>
              <a:t>25%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5"/>
          <p:cNvSpPr/>
          <p:nvPr/>
        </p:nvSpPr>
        <p:spPr>
          <a:xfrm>
            <a:off x="868680" y="1965960"/>
            <a:ext cx="2468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ADE reduction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over 15 epochs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Rounded Rectangle 6"/>
          <p:cNvSpPr/>
          <p:nvPr/>
        </p:nvSpPr>
        <p:spPr>
          <a:xfrm>
            <a:off x="3749040" y="1097280"/>
            <a:ext cx="2742840" cy="155412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TextBox 7"/>
          <p:cNvSpPr/>
          <p:nvPr/>
        </p:nvSpPr>
        <p:spPr>
          <a:xfrm>
            <a:off x="4267800" y="1234440"/>
            <a:ext cx="1704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d8a72"/>
                </a:solidFill>
                <a:latin typeface="Calibri"/>
              </a:rPr>
              <a:t>0.085 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8"/>
          <p:cNvSpPr/>
          <p:nvPr/>
        </p:nvSpPr>
        <p:spPr>
          <a:xfrm>
            <a:off x="3886200" y="1965960"/>
            <a:ext cx="2468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Final ADE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(&lt; 9 cm avg deviation)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Rounded Rectangle 9"/>
          <p:cNvSpPr/>
          <p:nvPr/>
        </p:nvSpPr>
        <p:spPr>
          <a:xfrm>
            <a:off x="6766560" y="1097280"/>
            <a:ext cx="2742840" cy="155412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TextBox 10"/>
          <p:cNvSpPr/>
          <p:nvPr/>
        </p:nvSpPr>
        <p:spPr>
          <a:xfrm>
            <a:off x="7285320" y="1234440"/>
            <a:ext cx="1704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cf7c00"/>
                </a:solidFill>
                <a:latin typeface="Calibri"/>
              </a:rPr>
              <a:t>0.087 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11"/>
          <p:cNvSpPr/>
          <p:nvPr/>
        </p:nvSpPr>
        <p:spPr>
          <a:xfrm>
            <a:off x="6903720" y="1965960"/>
            <a:ext cx="2468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Expert baseline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ADE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12"/>
          <p:cNvSpPr/>
          <p:nvPr/>
        </p:nvSpPr>
        <p:spPr>
          <a:xfrm>
            <a:off x="9784080" y="1097280"/>
            <a:ext cx="1645560" cy="155412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TextBox 13"/>
          <p:cNvSpPr/>
          <p:nvPr/>
        </p:nvSpPr>
        <p:spPr>
          <a:xfrm>
            <a:off x="10114560" y="1234440"/>
            <a:ext cx="98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888899"/>
                </a:solidFill>
                <a:latin typeface="Calibri"/>
              </a:rPr>
              <a:t>Ep 14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Box 14"/>
          <p:cNvSpPr/>
          <p:nvPr/>
        </p:nvSpPr>
        <p:spPr>
          <a:xfrm>
            <a:off x="9921240" y="1965960"/>
            <a:ext cx="13712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Final ckpt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used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15"/>
          <p:cNvSpPr/>
          <p:nvPr/>
        </p:nvSpPr>
        <p:spPr>
          <a:xfrm>
            <a:off x="731520" y="3017520"/>
            <a:ext cx="1069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ADE at epoch 0 (CARLA checkpoint): 0.114 m → epoch 11: 0.085 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Box 16"/>
          <p:cNvSpPr/>
          <p:nvPr/>
        </p:nvSpPr>
        <p:spPr>
          <a:xfrm>
            <a:off x="731520" y="3474720"/>
            <a:ext cx="1069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Policy converges to within 2 mm of expert-level accuracy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17"/>
          <p:cNvSpPr/>
          <p:nvPr/>
        </p:nvSpPr>
        <p:spPr>
          <a:xfrm>
            <a:off x="731520" y="3931920"/>
            <a:ext cx="1069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Losses decrease rapidly in first 3–5 epochs, then plateau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18"/>
          <p:cNvSpPr/>
          <p:nvPr/>
        </p:nvSpPr>
        <p:spPr>
          <a:xfrm>
            <a:off x="731520" y="4389120"/>
            <a:ext cx="1069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Language loss near zero throughout (no NL supervision)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2" name="Picture 19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03" name="TextBox 20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Baseline Route Following (No Obstacles)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506" name="Table 3"/>
          <p:cNvGraphicFramePr/>
          <p:nvPr/>
        </p:nvGraphicFramePr>
        <p:xfrm>
          <a:off x="609480" y="1234440"/>
          <a:ext cx="10972440" cy="1919880"/>
        </p:xfrm>
        <a:graphic>
          <a:graphicData uri="http://schemas.openxmlformats.org/drawingml/2006/table">
            <a:tbl>
              <a:tblPr/>
              <a:tblGrid>
                <a:gridCol w="4114800"/>
                <a:gridCol w="3429000"/>
                <a:gridCol w="342900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SimLingo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ACC Baseline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Route coverage (%)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99.1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97.6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Avg lateral deviation (m)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0.056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0.261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Max lateral deviation (m)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0.311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0.670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Avg completion time (s)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68.1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42.3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pic>
        <p:nvPicPr>
          <p:cNvPr id="507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08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Overall Pass Rates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1" name="Picture 3" descr="pass_fail_summary.png"/>
          <p:cNvPicPr/>
          <p:nvPr/>
        </p:nvPicPr>
        <p:blipFill>
          <a:blip r:embed="rId1"/>
          <a:stretch/>
        </p:blipFill>
        <p:spPr>
          <a:xfrm>
            <a:off x="731520" y="1479600"/>
            <a:ext cx="10728360" cy="4173120"/>
          </a:xfrm>
          <a:prstGeom prst="rect">
            <a:avLst/>
          </a:prstGeom>
          <a:ln w="0">
            <a:noFill/>
          </a:ln>
        </p:spPr>
      </p:pic>
      <p:sp>
        <p:nvSpPr>
          <p:cNvPr id="512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SimLingo: 60% overall (9/15), 40% obstacle-only (4/10). ACC baseline: 100%.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3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14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Route Coverage Comparison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7" name="Picture 3" descr="route_coverage_comparison.png"/>
          <p:cNvPicPr/>
          <p:nvPr/>
        </p:nvPicPr>
        <p:blipFill>
          <a:blip r:embed="rId1"/>
          <a:stretch/>
        </p:blipFill>
        <p:spPr>
          <a:xfrm>
            <a:off x="1249560" y="1143000"/>
            <a:ext cx="9692280" cy="4845960"/>
          </a:xfrm>
          <a:prstGeom prst="rect">
            <a:avLst/>
          </a:prstGeom>
          <a:ln w="0">
            <a:noFill/>
          </a:ln>
        </p:spPr>
      </p:pic>
      <p:sp>
        <p:nvSpPr>
          <p:cNvPr id="518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Route coverage by scenario. Both controllers achieve &gt;97% on obstacle-free runs.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9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20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Safety Comparison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23" name="Picture 3" descr="safety_comparison.png"/>
          <p:cNvPicPr/>
          <p:nvPr/>
        </p:nvPicPr>
        <p:blipFill>
          <a:blip r:embed="rId1"/>
          <a:stretch/>
        </p:blipFill>
        <p:spPr>
          <a:xfrm>
            <a:off x="731520" y="1477800"/>
            <a:ext cx="10728360" cy="4176720"/>
          </a:xfrm>
          <a:prstGeom prst="rect">
            <a:avLst/>
          </a:prstGeom>
          <a:ln w="0">
            <a:noFill/>
          </a:ln>
        </p:spPr>
      </p:pic>
      <p:sp>
        <p:nvSpPr>
          <p:cNvPr id="524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Collision rate, stop success rate, and stopping distance across all obstacle variants.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5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26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Lateral Deviation Comparison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29" name="Picture 3" descr="lateral_deviation_comparison.png"/>
          <p:cNvPicPr/>
          <p:nvPr/>
        </p:nvPicPr>
        <p:blipFill>
          <a:blip r:embed="rId1"/>
          <a:stretch/>
        </p:blipFill>
        <p:spPr>
          <a:xfrm>
            <a:off x="1734120" y="1143000"/>
            <a:ext cx="8723160" cy="4845960"/>
          </a:xfrm>
          <a:prstGeom prst="rect">
            <a:avLst/>
          </a:prstGeom>
          <a:ln w="0">
            <a:noFill/>
          </a:ln>
        </p:spPr>
      </p:pic>
      <p:sp>
        <p:nvSpPr>
          <p:cNvPr id="530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SimLingo: 0.03–0.09 m on most scenarios. ACC: 0.25–0.38 m (pure-pursuit corner-cutting).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1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32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Trajectory Overlays (Bird’s-Eye View)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35" name="Picture 3" descr="trajectory_overlays.png"/>
          <p:cNvPicPr/>
          <p:nvPr/>
        </p:nvPicPr>
        <p:blipFill>
          <a:blip r:embed="rId1"/>
          <a:stretch/>
        </p:blipFill>
        <p:spPr>
          <a:xfrm>
            <a:off x="731520" y="2586600"/>
            <a:ext cx="10728360" cy="1958760"/>
          </a:xfrm>
          <a:prstGeom prst="rect">
            <a:avLst/>
          </a:prstGeom>
          <a:ln w="0">
            <a:noFill/>
          </a:ln>
        </p:spPr>
      </p:pic>
      <p:sp>
        <p:nvSpPr>
          <p:cNvPr id="536" name="TextBox 4"/>
          <p:cNvSpPr/>
          <p:nvPr/>
        </p:nvSpPr>
        <p:spPr>
          <a:xfrm>
            <a:off x="1097280" y="6217920"/>
            <a:ext cx="999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888899"/>
                </a:solidFill>
                <a:latin typeface="Calibri"/>
              </a:rPr>
              <a:t>Bird’s-eye trajectories for all variants. SimLingo (blue) vs ACC (orange) vs route (dashed).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7" name="Picture 5" descr="uacs.png"/>
          <p:cNvPicPr/>
          <p:nvPr/>
        </p:nvPicPr>
        <p:blipFill>
          <a:blip r:embed="rId2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38" name="TextBox 6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39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Obstacle Avoidance: Detailed Results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541" name="Table 3"/>
          <p:cNvGraphicFramePr/>
          <p:nvPr/>
        </p:nvGraphicFramePr>
        <p:xfrm>
          <a:off x="609480" y="1234440"/>
          <a:ext cx="10972440" cy="422424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1463040"/>
                <a:gridCol w="1371600"/>
                <a:gridCol w="1645920"/>
                <a:gridCol w="173736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Controller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Coverage%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Collisions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Stopped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Stop Dist (m)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Avg Lat Dev (m)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c1c2e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1 (Early)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SimLingo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23.5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6.8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0.053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1 (Early)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ACC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23.5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7.4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0.256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2 (Mid)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SimLingo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41.2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3.2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0.033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2 (Mid)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ACC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38.8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5.4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0.383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3 (Exit)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SimLingo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52.4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5.7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0.046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3 (Exit)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ACC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49.4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8.3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0.350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4 (Straight)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SimLingo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73.5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3.6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0.072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4 (Straight)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ACC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68.2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8.1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0.262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5 (Late)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SimLingo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96.5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N/A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0.284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ee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Var 5 (Late)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ACC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80.0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2/2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7.3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d2d3d"/>
                          </a:solidFill>
                          <a:latin typeface="Calibri"/>
                        </a:rPr>
                        <a:t>0.254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pic>
        <p:nvPicPr>
          <p:cNvPr id="542" name="Picture 4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43" name="TextBox 5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Clean Stops: Variant 1 (Early) &amp; Variant 3 (Exit)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46" name="Picture 3" descr="near_obstacle_waypoints_obstacle_var1.png"/>
          <p:cNvPicPr/>
          <p:nvPr/>
        </p:nvPicPr>
        <p:blipFill>
          <a:blip r:embed="rId1"/>
          <a:stretch/>
        </p:blipFill>
        <p:spPr>
          <a:xfrm>
            <a:off x="457200" y="1868400"/>
            <a:ext cx="5303160" cy="3395160"/>
          </a:xfrm>
          <a:prstGeom prst="rect">
            <a:avLst/>
          </a:prstGeom>
          <a:ln w="0">
            <a:noFill/>
          </a:ln>
        </p:spPr>
      </p:pic>
      <p:sp>
        <p:nvSpPr>
          <p:cNvPr id="547" name="TextBox 4"/>
          <p:cNvSpPr/>
          <p:nvPr/>
        </p:nvSpPr>
        <p:spPr>
          <a:xfrm>
            <a:off x="457200" y="621792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888899"/>
                </a:solidFill>
                <a:latin typeface="Calibri"/>
              </a:rPr>
              <a:t>Var 1: Stop at ~6.8 m, speed &lt; 1.5 m/s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8" name="Picture 5" descr="near_obstacle_waypoints_obstacle_var3.png"/>
          <p:cNvPicPr/>
          <p:nvPr/>
        </p:nvPicPr>
        <p:blipFill>
          <a:blip r:embed="rId2"/>
          <a:stretch/>
        </p:blipFill>
        <p:spPr>
          <a:xfrm>
            <a:off x="6035040" y="1868400"/>
            <a:ext cx="5303160" cy="3395160"/>
          </a:xfrm>
          <a:prstGeom prst="rect">
            <a:avLst/>
          </a:prstGeom>
          <a:ln w="0">
            <a:noFill/>
          </a:ln>
        </p:spPr>
      </p:pic>
      <p:sp>
        <p:nvSpPr>
          <p:cNvPr id="549" name="TextBox 6"/>
          <p:cNvSpPr/>
          <p:nvPr/>
        </p:nvSpPr>
        <p:spPr>
          <a:xfrm>
            <a:off x="6035040" y="6217920"/>
            <a:ext cx="5303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888899"/>
                </a:solidFill>
                <a:latin typeface="Calibri"/>
              </a:rPr>
              <a:t>Var 3: Stop at ~5.7 m, just exited curve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0" name="Picture 7" descr="uacs.png"/>
          <p:cNvPicPr/>
          <p:nvPr/>
        </p:nvPicPr>
        <p:blipFill>
          <a:blip r:embed="rId3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51" name="TextBox 8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Contact &amp; Failure: Variants 2, 4, and 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54" name="Picture 3" descr="pre_collision_waypoints_obstacle_var2.png"/>
          <p:cNvPicPr/>
          <p:nvPr/>
        </p:nvPicPr>
        <p:blipFill>
          <a:blip r:embed="rId1"/>
          <a:stretch/>
        </p:blipFill>
        <p:spPr>
          <a:xfrm>
            <a:off x="518040" y="2150280"/>
            <a:ext cx="3565800" cy="2282760"/>
          </a:xfrm>
          <a:prstGeom prst="rect">
            <a:avLst/>
          </a:prstGeom>
          <a:ln w="0">
            <a:noFill/>
          </a:ln>
        </p:spPr>
      </p:pic>
      <p:sp>
        <p:nvSpPr>
          <p:cNvPr id="555" name="TextBox 4"/>
          <p:cNvSpPr/>
          <p:nvPr/>
        </p:nvSpPr>
        <p:spPr>
          <a:xfrm>
            <a:off x="518040" y="617220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888899"/>
                </a:solidFill>
                <a:latin typeface="Calibri"/>
              </a:rPr>
              <a:t>Var 2: Low-speed contact at 3.2 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6" name="Picture 5" descr="pre_collision_waypoints_obstacle_var4.png"/>
          <p:cNvPicPr/>
          <p:nvPr/>
        </p:nvPicPr>
        <p:blipFill>
          <a:blip r:embed="rId2"/>
          <a:stretch/>
        </p:blipFill>
        <p:spPr>
          <a:xfrm>
            <a:off x="4312800" y="2150280"/>
            <a:ext cx="3565800" cy="2282760"/>
          </a:xfrm>
          <a:prstGeom prst="rect">
            <a:avLst/>
          </a:prstGeom>
          <a:ln w="0">
            <a:noFill/>
          </a:ln>
        </p:spPr>
      </p:pic>
      <p:sp>
        <p:nvSpPr>
          <p:cNvPr id="557" name="TextBox 6"/>
          <p:cNvSpPr/>
          <p:nvPr/>
        </p:nvSpPr>
        <p:spPr>
          <a:xfrm>
            <a:off x="4312800" y="617220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888899"/>
                </a:solidFill>
                <a:latin typeface="Calibri"/>
              </a:rPr>
              <a:t>Var 4: Contact at 0.6 m/s, stop by step 167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8" name="Picture 7" descr="pre_collision_waypoints_obstacle_var5.png"/>
          <p:cNvPicPr/>
          <p:nvPr/>
        </p:nvPicPr>
        <p:blipFill>
          <a:blip r:embed="rId3"/>
          <a:stretch/>
        </p:blipFill>
        <p:spPr>
          <a:xfrm>
            <a:off x="8107560" y="2150280"/>
            <a:ext cx="3565800" cy="2282760"/>
          </a:xfrm>
          <a:prstGeom prst="rect">
            <a:avLst/>
          </a:prstGeom>
          <a:ln w="0">
            <a:noFill/>
          </a:ln>
        </p:spPr>
      </p:pic>
      <p:sp>
        <p:nvSpPr>
          <p:cNvPr id="559" name="TextBox 8"/>
          <p:cNvSpPr/>
          <p:nvPr/>
        </p:nvSpPr>
        <p:spPr>
          <a:xfrm>
            <a:off x="8107560" y="6172200"/>
            <a:ext cx="356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888899"/>
                </a:solidFill>
                <a:latin typeface="Calibri"/>
              </a:rPr>
              <a:t>Var 5: No deceleration, 3.4 m/s through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0" name="Picture 9" descr="uacs.png"/>
          <p:cNvPicPr/>
          <p:nvPr/>
        </p:nvPicPr>
        <p:blipFill>
          <a:blip r:embed="rId4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61" name="TextBox 10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tangle 1"/>
          <p:cNvSpPr/>
          <p:nvPr/>
        </p:nvSpPr>
        <p:spPr>
          <a:xfrm>
            <a:off x="731520" y="2377440"/>
            <a:ext cx="54360" cy="16455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3" name="TextBox 2"/>
          <p:cNvSpPr/>
          <p:nvPr/>
        </p:nvSpPr>
        <p:spPr>
          <a:xfrm>
            <a:off x="2424600" y="2468880"/>
            <a:ext cx="72205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 Light"/>
              </a:rPr>
              <a:t>Limitations &amp; Future Work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4" name="Picture 3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65" name="TextBox 4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Limitations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8" name="Rounded Rectangle 3"/>
          <p:cNvSpPr/>
          <p:nvPr/>
        </p:nvSpPr>
        <p:spPr>
          <a:xfrm>
            <a:off x="731520" y="1097280"/>
            <a:ext cx="5303160" cy="1462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9" name="Rectangle 4"/>
          <p:cNvSpPr/>
          <p:nvPr/>
        </p:nvSpPr>
        <p:spPr>
          <a:xfrm>
            <a:off x="731520" y="1097280"/>
            <a:ext cx="5303160" cy="543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0" name="TextBox 5"/>
          <p:cNvSpPr/>
          <p:nvPr/>
        </p:nvSpPr>
        <p:spPr>
          <a:xfrm>
            <a:off x="2639520" y="1234440"/>
            <a:ext cx="148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b0033"/>
                </a:solidFill>
                <a:latin typeface="Calibri"/>
              </a:rPr>
              <a:t>Sim-to-Sim Gap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Box 6"/>
          <p:cNvSpPr/>
          <p:nvPr/>
        </p:nvSpPr>
        <p:spPr>
          <a:xfrm>
            <a:off x="960120" y="1554480"/>
            <a:ext cx="4845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CARLA photorealistic vs QLabs simplified—unclear how much visual grounding transfers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Rounded Rectangle 7"/>
          <p:cNvSpPr/>
          <p:nvPr/>
        </p:nvSpPr>
        <p:spPr>
          <a:xfrm>
            <a:off x="6400800" y="1097280"/>
            <a:ext cx="5303160" cy="1462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3" name="Rectangle 8"/>
          <p:cNvSpPr/>
          <p:nvPr/>
        </p:nvSpPr>
        <p:spPr>
          <a:xfrm>
            <a:off x="6400800" y="1097280"/>
            <a:ext cx="5303160" cy="54360"/>
          </a:xfrm>
          <a:prstGeom prst="rect">
            <a:avLst/>
          </a:prstGeom>
          <a:solidFill>
            <a:srgbClr val="cf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4" name="TextBox 9"/>
          <p:cNvSpPr/>
          <p:nvPr/>
        </p:nvSpPr>
        <p:spPr>
          <a:xfrm>
            <a:off x="8220240" y="1234440"/>
            <a:ext cx="1663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f7c00"/>
                </a:solidFill>
                <a:latin typeface="Calibri"/>
              </a:rPr>
              <a:t>Timing Sensitivity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10"/>
          <p:cNvSpPr/>
          <p:nvPr/>
        </p:nvSpPr>
        <p:spPr>
          <a:xfrm>
            <a:off x="6629400" y="1554480"/>
            <a:ext cx="4845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PID derivative factor (1/5) is hand-tuned; speed from single-frame displacement is noisy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Rounded Rectangle 11"/>
          <p:cNvSpPr/>
          <p:nvPr/>
        </p:nvSpPr>
        <p:spPr>
          <a:xfrm>
            <a:off x="731520" y="2834640"/>
            <a:ext cx="5303160" cy="1462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7" name="Rectangle 12"/>
          <p:cNvSpPr/>
          <p:nvPr/>
        </p:nvSpPr>
        <p:spPr>
          <a:xfrm>
            <a:off x="731520" y="2834640"/>
            <a:ext cx="530316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8" name="TextBox 13"/>
          <p:cNvSpPr/>
          <p:nvPr/>
        </p:nvSpPr>
        <p:spPr>
          <a:xfrm>
            <a:off x="2521440" y="2971800"/>
            <a:ext cx="1723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Scenario Coverage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Box 14"/>
          <p:cNvSpPr/>
          <p:nvPr/>
        </p:nvSpPr>
        <p:spPr>
          <a:xfrm>
            <a:off x="960120" y="3291840"/>
            <a:ext cx="4845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Limited to roundabout + 5 obstacle positions; no generalization guarantee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Rounded Rectangle 15"/>
          <p:cNvSpPr/>
          <p:nvPr/>
        </p:nvSpPr>
        <p:spPr>
          <a:xfrm>
            <a:off x="6400800" y="2834640"/>
            <a:ext cx="5303160" cy="1462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1" name="Rectangle 16"/>
          <p:cNvSpPr/>
          <p:nvPr/>
        </p:nvSpPr>
        <p:spPr>
          <a:xfrm>
            <a:off x="6400800" y="2834640"/>
            <a:ext cx="5303160" cy="54360"/>
          </a:xfrm>
          <a:prstGeom prst="rect">
            <a:avLst/>
          </a:prstGeom>
          <a:solidFill>
            <a:srgbClr val="888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2" name="TextBox 17"/>
          <p:cNvSpPr/>
          <p:nvPr/>
        </p:nvSpPr>
        <p:spPr>
          <a:xfrm>
            <a:off x="8478720" y="2971800"/>
            <a:ext cx="1147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888899"/>
                </a:solidFill>
                <a:latin typeface="Calibri"/>
              </a:rPr>
              <a:t>Multi-Actor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Box 18"/>
          <p:cNvSpPr/>
          <p:nvPr/>
        </p:nvSpPr>
        <p:spPr>
          <a:xfrm>
            <a:off x="6629400" y="3291840"/>
            <a:ext cx="4845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Serialized QLabs API limits real-time multi-actor execution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Rounded Rectangle 19"/>
          <p:cNvSpPr/>
          <p:nvPr/>
        </p:nvSpPr>
        <p:spPr>
          <a:xfrm>
            <a:off x="731520" y="4572000"/>
            <a:ext cx="5303160" cy="1462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5" name="Rectangle 20"/>
          <p:cNvSpPr/>
          <p:nvPr/>
        </p:nvSpPr>
        <p:spPr>
          <a:xfrm>
            <a:off x="731520" y="4572000"/>
            <a:ext cx="5303160" cy="54360"/>
          </a:xfrm>
          <a:prstGeom prst="rect">
            <a:avLst/>
          </a:prstGeom>
          <a:solidFill>
            <a:srgbClr val="888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6" name="TextBox 21"/>
          <p:cNvSpPr/>
          <p:nvPr/>
        </p:nvSpPr>
        <p:spPr>
          <a:xfrm>
            <a:off x="2236320" y="4709160"/>
            <a:ext cx="2293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888899"/>
                </a:solidFill>
                <a:latin typeface="Calibri"/>
              </a:rPr>
              <a:t>No Language Supervision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Box 22"/>
          <p:cNvSpPr/>
          <p:nvPr/>
        </p:nvSpPr>
        <p:spPr>
          <a:xfrm>
            <a:off x="960120" y="5029200"/>
            <a:ext cx="4845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Fine-tuning adapts visual/control but not language-following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Rounded Rectangle 23"/>
          <p:cNvSpPr/>
          <p:nvPr/>
        </p:nvSpPr>
        <p:spPr>
          <a:xfrm>
            <a:off x="6400800" y="4572000"/>
            <a:ext cx="5303160" cy="1462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9" name="Rectangle 24"/>
          <p:cNvSpPr/>
          <p:nvPr/>
        </p:nvSpPr>
        <p:spPr>
          <a:xfrm>
            <a:off x="6400800" y="4572000"/>
            <a:ext cx="5303160" cy="543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0" name="TextBox 25"/>
          <p:cNvSpPr/>
          <p:nvPr/>
        </p:nvSpPr>
        <p:spPr>
          <a:xfrm>
            <a:off x="8157960" y="4709160"/>
            <a:ext cx="1788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b0033"/>
                </a:solidFill>
                <a:latin typeface="Calibri"/>
              </a:rPr>
              <a:t>In-Distribution Eval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Box 26"/>
          <p:cNvSpPr/>
          <p:nvPr/>
        </p:nvSpPr>
        <p:spPr>
          <a:xfrm>
            <a:off x="6629400" y="5029200"/>
            <a:ext cx="4845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Test positions overlap with training—no held-out generalization test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2" name="Picture 27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593" name="TextBox 28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Future Work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6" name="Rounded Rectangle 3"/>
          <p:cNvSpPr/>
          <p:nvPr/>
        </p:nvSpPr>
        <p:spPr>
          <a:xfrm>
            <a:off x="731520" y="1097280"/>
            <a:ext cx="3474360" cy="1234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7" name="Rectangle 4"/>
          <p:cNvSpPr/>
          <p:nvPr/>
        </p:nvSpPr>
        <p:spPr>
          <a:xfrm>
            <a:off x="731520" y="1097280"/>
            <a:ext cx="347436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8" name="TextBox 5"/>
          <p:cNvSpPr/>
          <p:nvPr/>
        </p:nvSpPr>
        <p:spPr>
          <a:xfrm>
            <a:off x="1616040" y="1234440"/>
            <a:ext cx="1704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Broader Scenarios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Box 6"/>
          <p:cNvSpPr/>
          <p:nvPr/>
        </p:nvSpPr>
        <p:spPr>
          <a:xfrm>
            <a:off x="960120" y="155448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Intersections, merges, adverse weather/lighting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Rounded Rectangle 7"/>
          <p:cNvSpPr/>
          <p:nvPr/>
        </p:nvSpPr>
        <p:spPr>
          <a:xfrm>
            <a:off x="4480560" y="1097280"/>
            <a:ext cx="3474360" cy="1234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1" name="Rectangle 8"/>
          <p:cNvSpPr/>
          <p:nvPr/>
        </p:nvSpPr>
        <p:spPr>
          <a:xfrm>
            <a:off x="4480560" y="1097280"/>
            <a:ext cx="347436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2" name="TextBox 9"/>
          <p:cNvSpPr/>
          <p:nvPr/>
        </p:nvSpPr>
        <p:spPr>
          <a:xfrm>
            <a:off x="5644080" y="1234440"/>
            <a:ext cx="1147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Multi-Actor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10"/>
          <p:cNvSpPr/>
          <p:nvPr/>
        </p:nvSpPr>
        <p:spPr>
          <a:xfrm>
            <a:off x="4709160" y="155448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Reduce lock contention, async logging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Rounded Rectangle 11"/>
          <p:cNvSpPr/>
          <p:nvPr/>
        </p:nvSpPr>
        <p:spPr>
          <a:xfrm>
            <a:off x="8229600" y="1097280"/>
            <a:ext cx="3474360" cy="1234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5" name="Rectangle 12"/>
          <p:cNvSpPr/>
          <p:nvPr/>
        </p:nvSpPr>
        <p:spPr>
          <a:xfrm>
            <a:off x="8229600" y="1097280"/>
            <a:ext cx="3474360" cy="54360"/>
          </a:xfrm>
          <a:prstGeom prst="rect">
            <a:avLst/>
          </a:prstGeom>
          <a:solidFill>
            <a:srgbClr val="cf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6" name="TextBox 13"/>
          <p:cNvSpPr/>
          <p:nvPr/>
        </p:nvSpPr>
        <p:spPr>
          <a:xfrm>
            <a:off x="9073800" y="1234440"/>
            <a:ext cx="1785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cf7c00"/>
                </a:solidFill>
                <a:latin typeface="Calibri"/>
              </a:rPr>
              <a:t>Camera Calibration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Box 14"/>
          <p:cNvSpPr/>
          <p:nvPr/>
        </p:nvSpPr>
        <p:spPr>
          <a:xfrm>
            <a:off x="8458200" y="155448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Systematic FOV/resolution matching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Rounded Rectangle 15"/>
          <p:cNvSpPr/>
          <p:nvPr/>
        </p:nvSpPr>
        <p:spPr>
          <a:xfrm>
            <a:off x="731520" y="2606040"/>
            <a:ext cx="3474360" cy="1234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9" name="Rectangle 16"/>
          <p:cNvSpPr/>
          <p:nvPr/>
        </p:nvSpPr>
        <p:spPr>
          <a:xfrm>
            <a:off x="731520" y="2606040"/>
            <a:ext cx="3474360" cy="54360"/>
          </a:xfrm>
          <a:prstGeom prst="rect">
            <a:avLst/>
          </a:prstGeom>
          <a:solidFill>
            <a:srgbClr val="8888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0" name="TextBox 17"/>
          <p:cNvSpPr/>
          <p:nvPr/>
        </p:nvSpPr>
        <p:spPr>
          <a:xfrm>
            <a:off x="1731240" y="2743200"/>
            <a:ext cx="1474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888899"/>
                </a:solidFill>
                <a:latin typeface="Calibri"/>
              </a:rPr>
              <a:t>PID Robustness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18"/>
          <p:cNvSpPr/>
          <p:nvPr/>
        </p:nvSpPr>
        <p:spPr>
          <a:xfrm>
            <a:off x="960120" y="306324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Gain tuning sweeps across domains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ounded Rectangle 19"/>
          <p:cNvSpPr/>
          <p:nvPr/>
        </p:nvSpPr>
        <p:spPr>
          <a:xfrm>
            <a:off x="4480560" y="2606040"/>
            <a:ext cx="3474360" cy="1234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3" name="Rectangle 20"/>
          <p:cNvSpPr/>
          <p:nvPr/>
        </p:nvSpPr>
        <p:spPr>
          <a:xfrm>
            <a:off x="4480560" y="2606040"/>
            <a:ext cx="3474360" cy="54360"/>
          </a:xfrm>
          <a:prstGeom prst="rect">
            <a:avLst/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4" name="TextBox 21"/>
          <p:cNvSpPr/>
          <p:nvPr/>
        </p:nvSpPr>
        <p:spPr>
          <a:xfrm>
            <a:off x="5370480" y="2743200"/>
            <a:ext cx="1694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d6a9f"/>
                </a:solidFill>
                <a:latin typeface="Calibri"/>
              </a:rPr>
              <a:t>Training Ablations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Box 22"/>
          <p:cNvSpPr/>
          <p:nvPr/>
        </p:nvSpPr>
        <p:spPr>
          <a:xfrm>
            <a:off x="4709160" y="306324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LoRA rank, learning rate, augmentation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Rounded Rectangle 23"/>
          <p:cNvSpPr/>
          <p:nvPr/>
        </p:nvSpPr>
        <p:spPr>
          <a:xfrm>
            <a:off x="8229600" y="2606040"/>
            <a:ext cx="3474360" cy="1234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7" name="Rectangle 24"/>
          <p:cNvSpPr/>
          <p:nvPr/>
        </p:nvSpPr>
        <p:spPr>
          <a:xfrm>
            <a:off x="8229600" y="2606040"/>
            <a:ext cx="3474360" cy="54360"/>
          </a:xfrm>
          <a:prstGeom prst="rect">
            <a:avLst/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8" name="TextBox 25"/>
          <p:cNvSpPr/>
          <p:nvPr/>
        </p:nvSpPr>
        <p:spPr>
          <a:xfrm>
            <a:off x="8964000" y="2743200"/>
            <a:ext cx="2005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d8a72"/>
                </a:solidFill>
                <a:latin typeface="Calibri"/>
              </a:rPr>
              <a:t>Language Supervision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Box 26"/>
          <p:cNvSpPr/>
          <p:nvPr/>
        </p:nvSpPr>
        <p:spPr>
          <a:xfrm>
            <a:off x="8458200" y="306324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Paired language annotations for commentary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Rounded Rectangle 27"/>
          <p:cNvSpPr/>
          <p:nvPr/>
        </p:nvSpPr>
        <p:spPr>
          <a:xfrm>
            <a:off x="731520" y="4114800"/>
            <a:ext cx="3474360" cy="1234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1" name="Rectangle 28"/>
          <p:cNvSpPr/>
          <p:nvPr/>
        </p:nvSpPr>
        <p:spPr>
          <a:xfrm>
            <a:off x="731520" y="4114800"/>
            <a:ext cx="3474360" cy="543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2" name="TextBox 29"/>
          <p:cNvSpPr/>
          <p:nvPr/>
        </p:nvSpPr>
        <p:spPr>
          <a:xfrm>
            <a:off x="1891080" y="4251960"/>
            <a:ext cx="115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b0033"/>
                </a:solidFill>
                <a:latin typeface="Calibri"/>
              </a:rPr>
              <a:t>Sim-to-Real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Box 30"/>
          <p:cNvSpPr/>
          <p:nvPr/>
        </p:nvSpPr>
        <p:spPr>
          <a:xfrm>
            <a:off x="960120" y="457200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2d2d3d"/>
                </a:solidFill>
                <a:latin typeface="Calibri"/>
              </a:rPr>
              <a:t>Deploy to physical QCar 2 hardware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Rounded Rectangle 31"/>
          <p:cNvSpPr/>
          <p:nvPr/>
        </p:nvSpPr>
        <p:spPr>
          <a:xfrm>
            <a:off x="731520" y="4754880"/>
            <a:ext cx="10698120" cy="456840"/>
          </a:xfrm>
          <a:prstGeom prst="roundRect">
            <a:avLst>
              <a:gd name="adj" fmla="val 8000"/>
            </a:avLst>
          </a:prstGeom>
          <a:solidFill>
            <a:srgbClr val="f4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5" name="TextBox 32"/>
          <p:cNvSpPr/>
          <p:nvPr/>
        </p:nvSpPr>
        <p:spPr>
          <a:xfrm>
            <a:off x="914400" y="4809600"/>
            <a:ext cx="1033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b0033"/>
                </a:solidFill>
                <a:latin typeface="Calibri"/>
              </a:rPr>
              <a:t>Highest priority: broader scenario coverage and sim-to-real transfer to physical QCar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6" name="Picture 33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627" name="TextBox 34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 1"/>
          <p:cNvSpPr/>
          <p:nvPr/>
        </p:nvSpPr>
        <p:spPr>
          <a:xfrm>
            <a:off x="731520" y="2377440"/>
            <a:ext cx="54360" cy="16455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9" name="TextBox 2"/>
          <p:cNvSpPr/>
          <p:nvPr/>
        </p:nvSpPr>
        <p:spPr>
          <a:xfrm>
            <a:off x="4486680" y="2468880"/>
            <a:ext cx="30963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Calibri Light"/>
              </a:rPr>
              <a:t>Conclusion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0" name="Picture 3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631" name="TextBox 4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Contributions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4" name="Rounded Rectangle 3"/>
          <p:cNvSpPr/>
          <p:nvPr/>
        </p:nvSpPr>
        <p:spPr>
          <a:xfrm>
            <a:off x="731520" y="1097280"/>
            <a:ext cx="639720" cy="1051200"/>
          </a:xfrm>
          <a:prstGeom prst="roundRect">
            <a:avLst>
              <a:gd name="adj" fmla="val 8000"/>
            </a:avLst>
          </a:prstGeom>
          <a:solidFill>
            <a:srgbClr val="2d6a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5" name="TextBox 4"/>
          <p:cNvSpPr/>
          <p:nvPr/>
        </p:nvSpPr>
        <p:spPr>
          <a:xfrm>
            <a:off x="877680" y="1280160"/>
            <a:ext cx="347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Box 5"/>
          <p:cNvSpPr/>
          <p:nvPr/>
        </p:nvSpPr>
        <p:spPr>
          <a:xfrm>
            <a:off x="4376160" y="1188720"/>
            <a:ext cx="4140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d2d3d"/>
                </a:solidFill>
                <a:latin typeface="Calibri"/>
              </a:rPr>
              <a:t>QLabs Expert Data Collection Pipeline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Box 6"/>
          <p:cNvSpPr/>
          <p:nvPr/>
        </p:nvSpPr>
        <p:spPr>
          <a:xfrm>
            <a:off x="1645920" y="1600200"/>
            <a:ext cx="960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888899"/>
                </a:solidFill>
                <a:latin typeface="Calibri"/>
              </a:rPr>
              <a:t>Keyboard teleop, 4 Hz logging, multi-actor scene management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Rounded Rectangle 7"/>
          <p:cNvSpPr/>
          <p:nvPr/>
        </p:nvSpPr>
        <p:spPr>
          <a:xfrm>
            <a:off x="731520" y="2423160"/>
            <a:ext cx="639720" cy="1051200"/>
          </a:xfrm>
          <a:prstGeom prst="roundRect">
            <a:avLst>
              <a:gd name="adj" fmla="val 8000"/>
            </a:avLst>
          </a:prstGeom>
          <a:solidFill>
            <a:srgbClr val="0d8a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9" name="TextBox 8"/>
          <p:cNvSpPr/>
          <p:nvPr/>
        </p:nvSpPr>
        <p:spPr>
          <a:xfrm>
            <a:off x="877680" y="2606040"/>
            <a:ext cx="347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Box 9"/>
          <p:cNvSpPr/>
          <p:nvPr/>
        </p:nvSpPr>
        <p:spPr>
          <a:xfrm>
            <a:off x="3924000" y="2514600"/>
            <a:ext cx="5044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d2d3d"/>
                </a:solidFill>
                <a:latin typeface="Calibri"/>
              </a:rPr>
              <a:t>Fine-Tuning Config for InternVL2-1B with LoRA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Box 10"/>
          <p:cNvSpPr/>
          <p:nvPr/>
        </p:nvSpPr>
        <p:spPr>
          <a:xfrm>
            <a:off x="1645920" y="2926080"/>
            <a:ext cx="960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888899"/>
                </a:solidFill>
                <a:latin typeface="Calibri"/>
              </a:rPr>
              <a:t>PyTorch Lightning + DeepSpeed, ~17.6M adapter parameters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Rounded Rectangle 11"/>
          <p:cNvSpPr/>
          <p:nvPr/>
        </p:nvSpPr>
        <p:spPr>
          <a:xfrm>
            <a:off x="731520" y="3749040"/>
            <a:ext cx="639720" cy="1051200"/>
          </a:xfrm>
          <a:prstGeom prst="roundRect">
            <a:avLst>
              <a:gd name="adj" fmla="val 8000"/>
            </a:avLst>
          </a:prstGeom>
          <a:solidFill>
            <a:srgbClr val="cf7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3" name="TextBox 12"/>
          <p:cNvSpPr/>
          <p:nvPr/>
        </p:nvSpPr>
        <p:spPr>
          <a:xfrm>
            <a:off x="877680" y="3931920"/>
            <a:ext cx="347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Box 13"/>
          <p:cNvSpPr/>
          <p:nvPr/>
        </p:nvSpPr>
        <p:spPr>
          <a:xfrm>
            <a:off x="4436280" y="3840480"/>
            <a:ext cx="4020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d2d3d"/>
                </a:solidFill>
                <a:latin typeface="Calibri"/>
              </a:rPr>
              <a:t>Real-Time Inference Stack for QCar 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Box 14"/>
          <p:cNvSpPr/>
          <p:nvPr/>
        </p:nvSpPr>
        <p:spPr>
          <a:xfrm>
            <a:off x="1645920" y="4251960"/>
            <a:ext cx="960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888899"/>
                </a:solidFill>
                <a:latin typeface="Calibri"/>
              </a:rPr>
              <a:t>PID control conversion, timing compensation, ego-frame target points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Rounded Rectangle 15"/>
          <p:cNvSpPr/>
          <p:nvPr/>
        </p:nvSpPr>
        <p:spPr>
          <a:xfrm>
            <a:off x="731520" y="5074920"/>
            <a:ext cx="639720" cy="1051200"/>
          </a:xfrm>
          <a:prstGeom prst="roundRect">
            <a:avLst>
              <a:gd name="adj" fmla="val 8000"/>
            </a:avLst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7" name="TextBox 16"/>
          <p:cNvSpPr/>
          <p:nvPr/>
        </p:nvSpPr>
        <p:spPr>
          <a:xfrm>
            <a:off x="877680" y="5257800"/>
            <a:ext cx="347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Box 17"/>
          <p:cNvSpPr/>
          <p:nvPr/>
        </p:nvSpPr>
        <p:spPr>
          <a:xfrm>
            <a:off x="4483440" y="5166360"/>
            <a:ext cx="3925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d2d3d"/>
                </a:solidFill>
                <a:latin typeface="Calibri"/>
              </a:rPr>
              <a:t>Scenario-Driven Evaluation Harness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Box 18"/>
          <p:cNvSpPr/>
          <p:nvPr/>
        </p:nvSpPr>
        <p:spPr>
          <a:xfrm>
            <a:off x="1645920" y="5577840"/>
            <a:ext cx="9600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888899"/>
                </a:solidFill>
                <a:latin typeface="Calibri"/>
              </a:rPr>
              <a:t>15-run test matrix, quantitative metrics, LiDAR ACC baseline comparison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0" name="Picture 19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651" name="TextBox 20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Rectangle 1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1c1c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1520" rIns="1828800" tIns="1098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Summary of Key Results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Rectangle 2"/>
          <p:cNvSpPr/>
          <p:nvPr/>
        </p:nvSpPr>
        <p:spPr>
          <a:xfrm>
            <a:off x="0" y="777240"/>
            <a:ext cx="12191400" cy="3168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4" name="Rounded Rectangle 3"/>
          <p:cNvSpPr/>
          <p:nvPr/>
        </p:nvSpPr>
        <p:spPr>
          <a:xfrm>
            <a:off x="731520" y="1051560"/>
            <a:ext cx="3474360" cy="164556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5" name="TextBox 4"/>
          <p:cNvSpPr/>
          <p:nvPr/>
        </p:nvSpPr>
        <p:spPr>
          <a:xfrm>
            <a:off x="1803600" y="1188720"/>
            <a:ext cx="133020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2d6a9f"/>
                </a:solidFill>
                <a:latin typeface="Calibri"/>
              </a:rPr>
              <a:t>25%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Box 5"/>
          <p:cNvSpPr/>
          <p:nvPr/>
        </p:nvSpPr>
        <p:spPr>
          <a:xfrm>
            <a:off x="868680" y="1920240"/>
            <a:ext cx="32000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ADE reduction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0.114 → 0.085 m over 15 epochs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Rounded Rectangle 6"/>
          <p:cNvSpPr/>
          <p:nvPr/>
        </p:nvSpPr>
        <p:spPr>
          <a:xfrm>
            <a:off x="4480560" y="1051560"/>
            <a:ext cx="3474360" cy="164556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8" name="TextBox 7"/>
          <p:cNvSpPr/>
          <p:nvPr/>
        </p:nvSpPr>
        <p:spPr>
          <a:xfrm>
            <a:off x="5552640" y="1188720"/>
            <a:ext cx="133020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0d8a72"/>
                </a:solidFill>
                <a:latin typeface="Calibri"/>
              </a:rPr>
              <a:t>60%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Box 8"/>
          <p:cNvSpPr/>
          <p:nvPr/>
        </p:nvSpPr>
        <p:spPr>
          <a:xfrm>
            <a:off x="4617720" y="1920240"/>
            <a:ext cx="32000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Overall pass rate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9/15 runs (5/5 baseline + 4/10 obstacle)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Rounded Rectangle 9"/>
          <p:cNvSpPr/>
          <p:nvPr/>
        </p:nvSpPr>
        <p:spPr>
          <a:xfrm>
            <a:off x="8229600" y="1051560"/>
            <a:ext cx="3474360" cy="1645560"/>
          </a:xfrm>
          <a:prstGeom prst="roundRect">
            <a:avLst>
              <a:gd name="adj" fmla="val 8000"/>
            </a:avLst>
          </a:prstGeom>
          <a:solidFill>
            <a:srgbClr val="f2f3f7"/>
          </a:solidFill>
          <a:ln w="12700">
            <a:solidFill>
              <a:srgbClr val="d0d3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1" name="TextBox 10"/>
          <p:cNvSpPr/>
          <p:nvPr/>
        </p:nvSpPr>
        <p:spPr>
          <a:xfrm>
            <a:off x="9289440" y="1188720"/>
            <a:ext cx="135468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cf7c00"/>
                </a:solidFill>
                <a:latin typeface="Calibri"/>
              </a:rPr>
              <a:t>4.7×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Box 11"/>
          <p:cNvSpPr/>
          <p:nvPr/>
        </p:nvSpPr>
        <p:spPr>
          <a:xfrm>
            <a:off x="8366760" y="1920240"/>
            <a:ext cx="32000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Lower lateral dev</a:t>
            </a:r>
            <a:br>
              <a:rPr sz="1300"/>
            </a:br>
            <a:r>
              <a:rPr b="0" lang="en-US" sz="1300" spc="-1" strike="noStrike">
                <a:solidFill>
                  <a:srgbClr val="888899"/>
                </a:solidFill>
                <a:latin typeface="Calibri"/>
              </a:rPr>
              <a:t>vs ACC on curves (0.056 vs 0.261 m)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Box 12"/>
          <p:cNvSpPr/>
          <p:nvPr/>
        </p:nvSpPr>
        <p:spPr>
          <a:xfrm>
            <a:off x="731520" y="3017520"/>
            <a:ext cx="1069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Obstacle detection and deceleration in 4 of 5 variants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Box 13"/>
          <p:cNvSpPr/>
          <p:nvPr/>
        </p:nvSpPr>
        <p:spPr>
          <a:xfrm>
            <a:off x="731520" y="3474720"/>
            <a:ext cx="1069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40% obstacle avoidance pass rate (clean stops) vs ACC baseline 100%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Box 14"/>
          <p:cNvSpPr/>
          <p:nvPr/>
        </p:nvSpPr>
        <p:spPr>
          <a:xfrm>
            <a:off x="731520" y="3931920"/>
            <a:ext cx="1069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Var 5 (high speed + curved approach): complete failure — model maintains 3–4 m/s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Box 15"/>
          <p:cNvSpPr/>
          <p:nvPr/>
        </p:nvSpPr>
        <p:spPr>
          <a:xfrm>
            <a:off x="731520" y="4389120"/>
            <a:ext cx="1069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d2d3d"/>
                </a:solidFill>
                <a:latin typeface="Calibri"/>
              </a:rPr>
              <a:t>Policy ADE converges to within 2 mm of expert demonstration baseline (0.087 m)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Rounded Rectangle 16"/>
          <p:cNvSpPr/>
          <p:nvPr/>
        </p:nvSpPr>
        <p:spPr>
          <a:xfrm>
            <a:off x="731520" y="5029200"/>
            <a:ext cx="10698120" cy="502560"/>
          </a:xfrm>
          <a:prstGeom prst="roundRect">
            <a:avLst>
              <a:gd name="adj" fmla="val 8000"/>
            </a:avLst>
          </a:prstGeom>
          <a:solidFill>
            <a:srgbClr val="f4e6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8" name="TextBox 17"/>
          <p:cNvSpPr/>
          <p:nvPr/>
        </p:nvSpPr>
        <p:spPr>
          <a:xfrm>
            <a:off x="914400" y="5083920"/>
            <a:ext cx="10332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ab0033"/>
                </a:solidFill>
                <a:latin typeface="Calibri"/>
              </a:rPr>
              <a:t>VLA domain transfer via LoRA is feasible with a small dataset — obstacle handling needs further work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9" name="Picture 18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  <p:sp>
        <p:nvSpPr>
          <p:cNvPr id="670" name="TextBox 19"/>
          <p:cNvSpPr/>
          <p:nvPr/>
        </p:nvSpPr>
        <p:spPr>
          <a:xfrm>
            <a:off x="11442600" y="647388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8899"/>
                </a:solidFill>
                <a:latin typeface="Calibri"/>
              </a:rPr>
              <a:t>48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2" name="Rectangle 2"/>
          <p:cNvSpPr/>
          <p:nvPr/>
        </p:nvSpPr>
        <p:spPr>
          <a:xfrm>
            <a:off x="0" y="3886200"/>
            <a:ext cx="12191400" cy="36360"/>
          </a:xfrm>
          <a:prstGeom prst="rect">
            <a:avLst/>
          </a:prstGeom>
          <a:solidFill>
            <a:srgbClr val="ab00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3" name="TextBox 3"/>
          <p:cNvSpPr/>
          <p:nvPr/>
        </p:nvSpPr>
        <p:spPr>
          <a:xfrm>
            <a:off x="4280760" y="1645920"/>
            <a:ext cx="3629880" cy="16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ffffff"/>
                </a:solidFill>
                <a:latin typeface="Calibri Light"/>
              </a:rPr>
              <a:t>Thank You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400"/>
              </a:spcBef>
            </a:pPr>
            <a:r>
              <a:rPr b="1" lang="en-US" sz="3600" spc="-1" strike="noStrike">
                <a:solidFill>
                  <a:srgbClr val="ab0033"/>
                </a:solidFill>
                <a:latin typeface="Calibri"/>
              </a:rPr>
              <a:t>Questions?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Box 4"/>
          <p:cNvSpPr/>
          <p:nvPr/>
        </p:nvSpPr>
        <p:spPr>
          <a:xfrm>
            <a:off x="3481200" y="4206240"/>
            <a:ext cx="5228640" cy="9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888899"/>
                </a:solidFill>
                <a:latin typeface="Calibri"/>
              </a:rPr>
              <a:t>Garegin Mazmanyan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888899"/>
                </a:solidFill>
                <a:latin typeface="Calibri"/>
              </a:rPr>
              <a:t>The University of Arizona  ·  Department of Computer Science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5" name="Picture 5" descr="uacs.png"/>
          <p:cNvPicPr/>
          <p:nvPr/>
        </p:nvPicPr>
        <p:blipFill>
          <a:blip r:embed="rId1"/>
          <a:stretch/>
        </p:blipFill>
        <p:spPr>
          <a:xfrm>
            <a:off x="10643760" y="91440"/>
            <a:ext cx="1227600" cy="3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2026-03-26T22:49:57Z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